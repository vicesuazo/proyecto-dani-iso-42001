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503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263275"/>
          </a:solidFill>
          <a:ln/>
        </p:spPr>
        <p:txBody>
          <a:bodyPr/>
          <a:lstStyle/>
          <a:p>
            <a:endParaRPr lang="es-CL"/>
          </a:p>
        </p:txBody>
      </p:sp>
      <p:sp>
        <p:nvSpPr>
          <p:cNvPr id="3" name="Shape 1"/>
          <p:cNvSpPr/>
          <p:nvPr/>
        </p:nvSpPr>
        <p:spPr>
          <a:xfrm>
            <a:off x="10424160" y="4206240"/>
            <a:ext cx="3291840" cy="3291840"/>
          </a:xfrm>
          <a:prstGeom prst="ellipse">
            <a:avLst/>
          </a:prstGeom>
          <a:solidFill>
            <a:srgbClr val="D9A441">
              <a:alpha val="18000"/>
            </a:srgbClr>
          </a:solidFill>
          <a:ln/>
        </p:spPr>
        <p:txBody>
          <a:bodyPr/>
          <a:lstStyle/>
          <a:p>
            <a:endParaRPr lang="es-CL"/>
          </a:p>
        </p:txBody>
      </p:sp>
      <p:sp>
        <p:nvSpPr>
          <p:cNvPr id="4" name="Text 2"/>
          <p:cNvSpPr txBox="1"/>
          <p:nvPr/>
        </p:nvSpPr>
        <p:spPr>
          <a:xfrm>
            <a:off x="822960" y="1828800"/>
            <a:ext cx="8229600" cy="365760"/>
          </a:xfrm>
          <a:prstGeom prst="rect">
            <a:avLst/>
          </a:prstGeom>
          <a:noFill/>
          <a:ln/>
        </p:spPr>
        <p:txBody>
          <a:bodyPr wrap="square" lIns="0" tIns="0" rIns="0" bIns="0"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ASIGNATURA DE PORTAFOLIO DE TÍTULO · FASE 1</a:t>
            </a:r>
            <a:endParaRPr lang="en-US" sz="1300" dirty="0"/>
          </a:p>
        </p:txBody>
      </p:sp>
      <p:sp>
        <p:nvSpPr>
          <p:cNvPr id="5" name="Text 3"/>
          <p:cNvSpPr txBox="1"/>
          <p:nvPr/>
        </p:nvSpPr>
        <p:spPr>
          <a:xfrm>
            <a:off x="777240" y="2286000"/>
            <a:ext cx="9601200" cy="13716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Dani ISO 42001</a:t>
            </a:r>
            <a:endParaRPr lang="en-US" sz="5400" dirty="0"/>
          </a:p>
        </p:txBody>
      </p:sp>
      <p:sp>
        <p:nvSpPr>
          <p:cNvPr id="6" name="Text 4"/>
          <p:cNvSpPr txBox="1"/>
          <p:nvPr/>
        </p:nvSpPr>
        <p:spPr>
          <a:xfrm>
            <a:off x="822960" y="3703320"/>
            <a:ext cx="8046720" cy="914400"/>
          </a:xfrm>
          <a:prstGeom prst="rect">
            <a:avLst/>
          </a:prstGeom>
          <a:noFill/>
          <a:ln/>
        </p:spPr>
        <p:txBody>
          <a:bodyPr wrap="square" lIns="0" tIns="0" rIns="0" bIns="0" rtlCol="0" anchor="ctr"/>
          <a:lstStyle/>
          <a:p>
            <a:pPr marL="0" indent="0">
              <a:lnSpc>
                <a:spcPct val="125000"/>
              </a:lnSpc>
              <a:buNone/>
            </a:pPr>
            <a:r>
              <a:rPr lang="en-US" sz="1700" dirty="0">
                <a:solidFill>
                  <a:srgbClr val="CADCFC"/>
                </a:solidFill>
                <a:latin typeface="Calibri" pitchFamily="34" charset="0"/>
                <a:ea typeface="Calibri" pitchFamily="34" charset="-122"/>
                <a:cs typeface="Calibri" pitchFamily="34" charset="-120"/>
              </a:rPr>
              <a:t>Ampliación de la plataforma de gestión ISO 27001 de Alloxentric</a:t>
            </a:r>
            <a:endParaRPr lang="en-US" sz="1700" dirty="0"/>
          </a:p>
          <a:p>
            <a:pPr marL="0" indent="0">
              <a:lnSpc>
                <a:spcPct val="125000"/>
              </a:lnSpc>
              <a:buNone/>
            </a:pPr>
            <a:r>
              <a:rPr lang="en-US" sz="1700" dirty="0">
                <a:solidFill>
                  <a:srgbClr val="CADCFC"/>
                </a:solidFill>
                <a:latin typeface="Calibri" pitchFamily="34" charset="0"/>
                <a:ea typeface="Calibri" pitchFamily="34" charset="-122"/>
                <a:cs typeface="Calibri" pitchFamily="34" charset="-120"/>
              </a:rPr>
              <a:t>para incorporar también la gestión de ISO 42001.</a:t>
            </a:r>
            <a:endParaRPr lang="en-US" sz="1700" dirty="0"/>
          </a:p>
        </p:txBody>
      </p:sp>
      <p:sp>
        <p:nvSpPr>
          <p:cNvPr id="7" name="Shape 5"/>
          <p:cNvSpPr/>
          <p:nvPr/>
        </p:nvSpPr>
        <p:spPr>
          <a:xfrm>
            <a:off x="822960" y="4892040"/>
            <a:ext cx="502920" cy="41148"/>
          </a:xfrm>
          <a:prstGeom prst="rect">
            <a:avLst/>
          </a:prstGeom>
          <a:solidFill>
            <a:srgbClr val="D9A441"/>
          </a:solidFill>
          <a:ln/>
        </p:spPr>
        <p:txBody>
          <a:bodyPr/>
          <a:lstStyle/>
          <a:p>
            <a:endParaRPr lang="es-CL"/>
          </a:p>
        </p:txBody>
      </p:sp>
      <p:sp>
        <p:nvSpPr>
          <p:cNvPr id="8" name="Text 6"/>
          <p:cNvSpPr txBox="1"/>
          <p:nvPr/>
        </p:nvSpPr>
        <p:spPr>
          <a:xfrm>
            <a:off x="822960" y="5074920"/>
            <a:ext cx="7315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Vicente Suazo  •  Andrea Santana</a:t>
            </a:r>
            <a:endParaRPr lang="en-US" sz="1400" dirty="0"/>
          </a:p>
        </p:txBody>
      </p:sp>
      <p:sp>
        <p:nvSpPr>
          <p:cNvPr id="9" name="Text 7"/>
          <p:cNvSpPr txBox="1"/>
          <p:nvPr/>
        </p:nvSpPr>
        <p:spPr>
          <a:xfrm>
            <a:off x="822960" y="5394960"/>
            <a:ext cx="7315200" cy="32004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Ingeniería en Informática — Sede San Joaquín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EL EQUIPO</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Integrantes del proyecto</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Shape 3"/>
          <p:cNvSpPr/>
          <p:nvPr/>
        </p:nvSpPr>
        <p:spPr>
          <a:xfrm>
            <a:off x="640080" y="1965960"/>
            <a:ext cx="5074920" cy="3749040"/>
          </a:xfrm>
          <a:prstGeom prst="roundRect">
            <a:avLst>
              <a:gd name="adj" fmla="val 2927"/>
            </a:avLst>
          </a:prstGeom>
          <a:solidFill>
            <a:srgbClr val="FFFFFF"/>
          </a:solidFill>
          <a:ln w="12700">
            <a:solidFill>
              <a:srgbClr val="E2E7F2"/>
            </a:solidFill>
            <a:prstDash val="solid"/>
          </a:ln>
          <a:effectLst>
            <a:outerShdw blurRad="127000" dist="38100" dir="5400000" algn="bl" rotWithShape="0">
              <a:srgbClr val="1E2761">
                <a:alpha val="12000"/>
              </a:srgbClr>
            </a:outerShdw>
          </a:effectLst>
        </p:spPr>
        <p:txBody>
          <a:bodyPr/>
          <a:lstStyle/>
          <a:p>
            <a:endParaRPr lang="es-CL"/>
          </a:p>
        </p:txBody>
      </p:sp>
      <p:sp>
        <p:nvSpPr>
          <p:cNvPr id="6" name="Shape 4"/>
          <p:cNvSpPr/>
          <p:nvPr/>
        </p:nvSpPr>
        <p:spPr>
          <a:xfrm>
            <a:off x="1051560" y="2377440"/>
            <a:ext cx="822960" cy="822960"/>
          </a:xfrm>
          <a:prstGeom prst="ellipse">
            <a:avLst/>
          </a:prstGeom>
          <a:solidFill>
            <a:srgbClr val="1E2761"/>
          </a:solidFill>
          <a:ln/>
        </p:spPr>
        <p:txBody>
          <a:bodyPr/>
          <a:lstStyle/>
          <a:p>
            <a:endParaRPr lang="es-CL"/>
          </a:p>
        </p:txBody>
      </p:sp>
      <p:sp>
        <p:nvSpPr>
          <p:cNvPr id="7" name="Text 5"/>
          <p:cNvSpPr txBox="1"/>
          <p:nvPr/>
        </p:nvSpPr>
        <p:spPr>
          <a:xfrm>
            <a:off x="1051560" y="237744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VS</a:t>
            </a:r>
            <a:endParaRPr lang="en-US" sz="2200" dirty="0"/>
          </a:p>
        </p:txBody>
      </p:sp>
      <p:sp>
        <p:nvSpPr>
          <p:cNvPr id="8" name="Text 6"/>
          <p:cNvSpPr txBox="1"/>
          <p:nvPr/>
        </p:nvSpPr>
        <p:spPr>
          <a:xfrm>
            <a:off x="1051560" y="3383280"/>
            <a:ext cx="4251960" cy="4114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Vicente Suazo</a:t>
            </a:r>
            <a:endParaRPr lang="en-US" sz="2000" dirty="0"/>
          </a:p>
        </p:txBody>
      </p:sp>
      <p:sp>
        <p:nvSpPr>
          <p:cNvPr id="9" name="Text 7"/>
          <p:cNvSpPr txBox="1"/>
          <p:nvPr/>
        </p:nvSpPr>
        <p:spPr>
          <a:xfrm>
            <a:off x="1051560" y="3794760"/>
            <a:ext cx="4251960" cy="365760"/>
          </a:xfrm>
          <a:prstGeom prst="rect">
            <a:avLst/>
          </a:prstGeom>
          <a:noFill/>
          <a:ln/>
        </p:spPr>
        <p:txBody>
          <a:bodyPr wrap="square" lIns="0" tIns="0" rIns="0" bIns="0"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Estudiante de Ingeniería en Informática</a:t>
            </a:r>
            <a:endParaRPr lang="en-US" sz="1200" dirty="0"/>
          </a:p>
        </p:txBody>
      </p:sp>
      <p:sp>
        <p:nvSpPr>
          <p:cNvPr id="10" name="Text 8"/>
          <p:cNvSpPr txBox="1"/>
          <p:nvPr/>
        </p:nvSpPr>
        <p:spPr>
          <a:xfrm>
            <a:off x="1051560" y="4251960"/>
            <a:ext cx="4251960" cy="1280160"/>
          </a:xfrm>
          <a:prstGeom prst="rect">
            <a:avLst/>
          </a:prstGeom>
          <a:noFill/>
          <a:ln/>
        </p:spPr>
        <p:txBody>
          <a:bodyPr wrap="square" lIns="0" tIns="0" rIns="0" bIns="0" rtlCol="0" anchor="ctr"/>
          <a:lstStyle/>
          <a:p>
            <a:pPr marL="0" indent="0">
              <a:lnSpc>
                <a:spcPct val="125000"/>
              </a:lnSpc>
              <a:buNone/>
            </a:pPr>
            <a:r>
              <a:rPr lang="en-US" sz="1300" dirty="0">
                <a:solidFill>
                  <a:srgbClr val="5B6472"/>
                </a:solidFill>
                <a:latin typeface="Calibri" pitchFamily="34" charset="0"/>
                <a:ea typeface="Calibri" pitchFamily="34" charset="-122"/>
                <a:cs typeface="Calibri" pitchFamily="34" charset="-120"/>
              </a:rPr>
              <a:t>Análisis, arquitectura e integración de las funcionalidades de ISO 42001 sobre la plataforma existente.</a:t>
            </a:r>
            <a:endParaRPr lang="en-US" sz="1300" dirty="0"/>
          </a:p>
        </p:txBody>
      </p:sp>
      <p:sp>
        <p:nvSpPr>
          <p:cNvPr id="11" name="Shape 9"/>
          <p:cNvSpPr/>
          <p:nvPr/>
        </p:nvSpPr>
        <p:spPr>
          <a:xfrm>
            <a:off x="6172200" y="1965960"/>
            <a:ext cx="5074920" cy="3749040"/>
          </a:xfrm>
          <a:prstGeom prst="roundRect">
            <a:avLst>
              <a:gd name="adj" fmla="val 2927"/>
            </a:avLst>
          </a:prstGeom>
          <a:solidFill>
            <a:srgbClr val="FFFFFF"/>
          </a:solidFill>
          <a:ln w="12700">
            <a:solidFill>
              <a:srgbClr val="E2E7F2"/>
            </a:solidFill>
            <a:prstDash val="solid"/>
          </a:ln>
          <a:effectLst>
            <a:outerShdw blurRad="127000" dist="38100" dir="5400000" algn="bl" rotWithShape="0">
              <a:srgbClr val="1E2761">
                <a:alpha val="12000"/>
              </a:srgbClr>
            </a:outerShdw>
          </a:effectLst>
        </p:spPr>
        <p:txBody>
          <a:bodyPr/>
          <a:lstStyle/>
          <a:p>
            <a:endParaRPr lang="es-CL"/>
          </a:p>
        </p:txBody>
      </p:sp>
      <p:sp>
        <p:nvSpPr>
          <p:cNvPr id="12" name="Shape 10"/>
          <p:cNvSpPr/>
          <p:nvPr/>
        </p:nvSpPr>
        <p:spPr>
          <a:xfrm>
            <a:off x="6583680" y="2377440"/>
            <a:ext cx="822960" cy="822960"/>
          </a:xfrm>
          <a:prstGeom prst="ellipse">
            <a:avLst/>
          </a:prstGeom>
          <a:solidFill>
            <a:srgbClr val="1E2761"/>
          </a:solidFill>
          <a:ln/>
        </p:spPr>
        <p:txBody>
          <a:bodyPr/>
          <a:lstStyle/>
          <a:p>
            <a:endParaRPr lang="es-CL"/>
          </a:p>
        </p:txBody>
      </p:sp>
      <p:sp>
        <p:nvSpPr>
          <p:cNvPr id="13" name="Text 11"/>
          <p:cNvSpPr txBox="1"/>
          <p:nvPr/>
        </p:nvSpPr>
        <p:spPr>
          <a:xfrm>
            <a:off x="6583680" y="237744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AS</a:t>
            </a:r>
            <a:endParaRPr lang="en-US" sz="2200" dirty="0"/>
          </a:p>
        </p:txBody>
      </p:sp>
      <p:sp>
        <p:nvSpPr>
          <p:cNvPr id="14" name="Text 12"/>
          <p:cNvSpPr txBox="1"/>
          <p:nvPr/>
        </p:nvSpPr>
        <p:spPr>
          <a:xfrm>
            <a:off x="6583680" y="3383280"/>
            <a:ext cx="4251960" cy="41148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Andrea Santana</a:t>
            </a:r>
            <a:endParaRPr lang="en-US" sz="2000" dirty="0"/>
          </a:p>
        </p:txBody>
      </p:sp>
      <p:sp>
        <p:nvSpPr>
          <p:cNvPr id="15" name="Text 13"/>
          <p:cNvSpPr txBox="1"/>
          <p:nvPr/>
        </p:nvSpPr>
        <p:spPr>
          <a:xfrm>
            <a:off x="6583680" y="3794760"/>
            <a:ext cx="4251960" cy="365760"/>
          </a:xfrm>
          <a:prstGeom prst="rect">
            <a:avLst/>
          </a:prstGeom>
          <a:noFill/>
          <a:ln/>
        </p:spPr>
        <p:txBody>
          <a:bodyPr wrap="square" lIns="0" tIns="0" rIns="0" bIns="0" rtlCol="0" anchor="ctr"/>
          <a:lstStyle/>
          <a:p>
            <a:pPr marL="0" indent="0">
              <a:buNone/>
            </a:pPr>
            <a:r>
              <a:rPr lang="en-US" sz="1200" b="1" dirty="0">
                <a:solidFill>
                  <a:srgbClr val="D9A441"/>
                </a:solidFill>
                <a:latin typeface="Calibri" pitchFamily="34" charset="0"/>
                <a:ea typeface="Calibri" pitchFamily="34" charset="-122"/>
                <a:cs typeface="Calibri" pitchFamily="34" charset="-120"/>
              </a:rPr>
              <a:t>Estudiante de Ingeniería en Informática</a:t>
            </a:r>
            <a:endParaRPr lang="en-US" sz="1200" dirty="0"/>
          </a:p>
        </p:txBody>
      </p:sp>
      <p:sp>
        <p:nvSpPr>
          <p:cNvPr id="16" name="Text 14"/>
          <p:cNvSpPr txBox="1"/>
          <p:nvPr/>
        </p:nvSpPr>
        <p:spPr>
          <a:xfrm>
            <a:off x="6583680" y="4251960"/>
            <a:ext cx="4251960" cy="1280160"/>
          </a:xfrm>
          <a:prstGeom prst="rect">
            <a:avLst/>
          </a:prstGeom>
          <a:noFill/>
          <a:ln/>
        </p:spPr>
        <p:txBody>
          <a:bodyPr wrap="square" lIns="0" tIns="0" rIns="0" bIns="0" rtlCol="0" anchor="ctr"/>
          <a:lstStyle/>
          <a:p>
            <a:pPr marL="0" indent="0">
              <a:lnSpc>
                <a:spcPct val="125000"/>
              </a:lnSpc>
              <a:buNone/>
            </a:pPr>
            <a:r>
              <a:rPr lang="en-US" sz="1300" dirty="0">
                <a:solidFill>
                  <a:srgbClr val="5B6472"/>
                </a:solidFill>
                <a:latin typeface="Calibri" pitchFamily="34" charset="0"/>
                <a:ea typeface="Calibri" pitchFamily="34" charset="-122"/>
                <a:cs typeface="Calibri" pitchFamily="34" charset="-120"/>
              </a:rPr>
              <a:t>Levantamiento de requerimientos, desarrollo y pruebas de la solución integrada.</a:t>
            </a:r>
            <a:endParaRPr lang="en-US" sz="1300" dirty="0"/>
          </a:p>
        </p:txBody>
      </p:sp>
      <p:sp>
        <p:nvSpPr>
          <p:cNvPr id="17" name="Text 15"/>
          <p:cNvSpPr txBox="1"/>
          <p:nvPr/>
        </p:nvSpPr>
        <p:spPr>
          <a:xfrm>
            <a:off x="640080" y="5989320"/>
            <a:ext cx="9144000" cy="36576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Carrera: Ingeniería en Informática, Sede San Joaquín</a:t>
            </a:r>
            <a:endParaRPr lang="en-US" sz="1200" dirty="0"/>
          </a:p>
        </p:txBody>
      </p:sp>
      <p:sp>
        <p:nvSpPr>
          <p:cNvPr id="18" name="Text 16"/>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CONTEXTO</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Contexto y relevancia del proyecto</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Text 3"/>
          <p:cNvSpPr txBox="1"/>
          <p:nvPr/>
        </p:nvSpPr>
        <p:spPr>
          <a:xfrm>
            <a:off x="640080" y="1737360"/>
            <a:ext cx="10515600" cy="1005840"/>
          </a:xfrm>
          <a:prstGeom prst="rect">
            <a:avLst/>
          </a:prstGeom>
          <a:noFill/>
          <a:ln/>
        </p:spPr>
        <p:txBody>
          <a:bodyPr wrap="square" lIns="0" tIns="0" rIns="0" bIns="0" rtlCol="0" anchor="ctr"/>
          <a:lstStyle/>
          <a:p>
            <a:pPr marL="0" indent="0">
              <a:lnSpc>
                <a:spcPct val="130000"/>
              </a:lnSpc>
              <a:buNone/>
            </a:pPr>
            <a:r>
              <a:rPr lang="en-US" sz="1500" dirty="0">
                <a:solidFill>
                  <a:srgbClr val="1F2430"/>
                </a:solidFill>
                <a:latin typeface="Calibri" pitchFamily="34" charset="0"/>
                <a:ea typeface="Calibri" pitchFamily="34" charset="-122"/>
                <a:cs typeface="Calibri" pitchFamily="34" charset="-120"/>
              </a:rPr>
              <a:t>Alloxentric ya opera una plataforma que gestiona ISO 27001. El proyecto la amplía para que también gestione ISO 42001 (gestión de sistemas de inteligencia artificial), reutilizando la base tecnológica existente en vez de construir una solución independiente.</a:t>
            </a:r>
            <a:endParaRPr lang="en-US" sz="1500" dirty="0"/>
          </a:p>
        </p:txBody>
      </p:sp>
      <p:sp>
        <p:nvSpPr>
          <p:cNvPr id="6" name="Text 4"/>
          <p:cNvSpPr txBox="1"/>
          <p:nvPr/>
        </p:nvSpPr>
        <p:spPr>
          <a:xfrm>
            <a:off x="640080" y="2880360"/>
            <a:ext cx="7315200" cy="320040"/>
          </a:xfrm>
          <a:prstGeom prst="rect">
            <a:avLst/>
          </a:prstGeom>
          <a:noFill/>
          <a:ln/>
        </p:spPr>
        <p:txBody>
          <a:bodyPr wrap="square" lIns="0" tIns="0" rIns="0" bIns="0" rtlCol="0" anchor="ctr"/>
          <a:lstStyle/>
          <a:p>
            <a:pPr marL="0" indent="0">
              <a:buNone/>
            </a:pPr>
            <a:r>
              <a:rPr lang="en-US" sz="1200" b="1" kern="0" spc="150" dirty="0">
                <a:solidFill>
                  <a:srgbClr val="D9A441"/>
                </a:solidFill>
                <a:latin typeface="Calibri" pitchFamily="34" charset="0"/>
                <a:ea typeface="Calibri" pitchFamily="34" charset="-122"/>
                <a:cs typeface="Calibri" pitchFamily="34" charset="-120"/>
              </a:rPr>
              <a:t>LINEAMIENTOS TÉCNICOS A RESPETAR</a:t>
            </a:r>
            <a:endParaRPr lang="en-US" sz="1200" dirty="0"/>
          </a:p>
        </p:txBody>
      </p:sp>
      <p:sp>
        <p:nvSpPr>
          <p:cNvPr id="7" name="Shape 5"/>
          <p:cNvSpPr/>
          <p:nvPr/>
        </p:nvSpPr>
        <p:spPr>
          <a:xfrm>
            <a:off x="640080" y="3291840"/>
            <a:ext cx="5120640" cy="640080"/>
          </a:xfrm>
          <a:prstGeom prst="roundRect">
            <a:avLst>
              <a:gd name="adj" fmla="val 11429"/>
            </a:avLst>
          </a:prstGeom>
          <a:solidFill>
            <a:srgbClr val="FFFFFF"/>
          </a:solidFill>
          <a:ln w="12700">
            <a:solidFill>
              <a:srgbClr val="E2E7F2"/>
            </a:solidFill>
            <a:prstDash val="solid"/>
          </a:ln>
        </p:spPr>
        <p:txBody>
          <a:bodyPr/>
          <a:lstStyle/>
          <a:p>
            <a:endParaRPr lang="es-CL"/>
          </a:p>
        </p:txBody>
      </p:sp>
      <p:sp>
        <p:nvSpPr>
          <p:cNvPr id="8" name="Shape 6"/>
          <p:cNvSpPr/>
          <p:nvPr/>
        </p:nvSpPr>
        <p:spPr>
          <a:xfrm>
            <a:off x="804672" y="3424428"/>
            <a:ext cx="256032" cy="256032"/>
          </a:xfrm>
          <a:prstGeom prst="ellipse">
            <a:avLst/>
          </a:prstGeom>
          <a:solidFill>
            <a:srgbClr val="1E2761"/>
          </a:solidFill>
          <a:ln/>
        </p:spPr>
        <p:txBody>
          <a:bodyPr/>
          <a:lstStyle/>
          <a:p>
            <a:endParaRPr lang="es-CL"/>
          </a:p>
        </p:txBody>
      </p:sp>
      <p:sp>
        <p:nvSpPr>
          <p:cNvPr id="9" name="Text 7"/>
          <p:cNvSpPr txBox="1"/>
          <p:nvPr/>
        </p:nvSpPr>
        <p:spPr>
          <a:xfrm>
            <a:off x="804672" y="342442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170432" y="3337560"/>
            <a:ext cx="4434840" cy="548640"/>
          </a:xfrm>
          <a:prstGeom prst="rect">
            <a:avLst/>
          </a:prstGeom>
          <a:noFill/>
          <a:ln/>
        </p:spPr>
        <p:txBody>
          <a:bodyPr wrap="square" lIns="0" tIns="0" rIns="0" bIns="0" rtlCol="0" anchor="ctr"/>
          <a:lstStyle/>
          <a:p>
            <a:pPr marL="0" indent="0">
              <a:lnSpc>
                <a:spcPct val="105000"/>
              </a:lnSpc>
              <a:buNone/>
            </a:pPr>
            <a:r>
              <a:rPr lang="en-US" sz="1250" dirty="0">
                <a:solidFill>
                  <a:srgbClr val="1F2430"/>
                </a:solidFill>
                <a:latin typeface="Calibri" pitchFamily="34" charset="0"/>
                <a:ea typeface="Calibri" pitchFamily="34" charset="-122"/>
                <a:cs typeface="Calibri" pitchFamily="34" charset="-120"/>
              </a:rPr>
              <a:t>Multi-tenancy y aislamiento de datos mediante client_id</a:t>
            </a:r>
            <a:endParaRPr lang="en-US" sz="1250" dirty="0"/>
          </a:p>
        </p:txBody>
      </p:sp>
      <p:sp>
        <p:nvSpPr>
          <p:cNvPr id="11" name="Shape 9"/>
          <p:cNvSpPr/>
          <p:nvPr/>
        </p:nvSpPr>
        <p:spPr>
          <a:xfrm>
            <a:off x="6035040" y="3291840"/>
            <a:ext cx="5120640" cy="640080"/>
          </a:xfrm>
          <a:prstGeom prst="roundRect">
            <a:avLst>
              <a:gd name="adj" fmla="val 11429"/>
            </a:avLst>
          </a:prstGeom>
          <a:solidFill>
            <a:srgbClr val="FFFFFF"/>
          </a:solidFill>
          <a:ln w="12700">
            <a:solidFill>
              <a:srgbClr val="E2E7F2"/>
            </a:solidFill>
            <a:prstDash val="solid"/>
          </a:ln>
        </p:spPr>
        <p:txBody>
          <a:bodyPr/>
          <a:lstStyle/>
          <a:p>
            <a:endParaRPr lang="es-CL"/>
          </a:p>
        </p:txBody>
      </p:sp>
      <p:sp>
        <p:nvSpPr>
          <p:cNvPr id="12" name="Shape 10"/>
          <p:cNvSpPr/>
          <p:nvPr/>
        </p:nvSpPr>
        <p:spPr>
          <a:xfrm>
            <a:off x="6199632" y="3424428"/>
            <a:ext cx="256032" cy="256032"/>
          </a:xfrm>
          <a:prstGeom prst="ellipse">
            <a:avLst/>
          </a:prstGeom>
          <a:solidFill>
            <a:srgbClr val="1E2761"/>
          </a:solidFill>
          <a:ln/>
        </p:spPr>
        <p:txBody>
          <a:bodyPr/>
          <a:lstStyle/>
          <a:p>
            <a:endParaRPr lang="es-CL"/>
          </a:p>
        </p:txBody>
      </p:sp>
      <p:sp>
        <p:nvSpPr>
          <p:cNvPr id="13" name="Text 11"/>
          <p:cNvSpPr txBox="1"/>
          <p:nvPr/>
        </p:nvSpPr>
        <p:spPr>
          <a:xfrm>
            <a:off x="6199632" y="342442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6565392" y="3337560"/>
            <a:ext cx="4434840" cy="548640"/>
          </a:xfrm>
          <a:prstGeom prst="rect">
            <a:avLst/>
          </a:prstGeom>
          <a:noFill/>
          <a:ln/>
        </p:spPr>
        <p:txBody>
          <a:bodyPr wrap="square" lIns="0" tIns="0" rIns="0" bIns="0" rtlCol="0" anchor="ctr"/>
          <a:lstStyle/>
          <a:p>
            <a:pPr marL="0" indent="0">
              <a:lnSpc>
                <a:spcPct val="105000"/>
              </a:lnSpc>
              <a:buNone/>
            </a:pPr>
            <a:r>
              <a:rPr lang="en-US" sz="1250" dirty="0">
                <a:solidFill>
                  <a:srgbClr val="1F2430"/>
                </a:solidFill>
                <a:latin typeface="Calibri" pitchFamily="34" charset="0"/>
                <a:ea typeface="Calibri" pitchFamily="34" charset="-122"/>
                <a:cs typeface="Calibri" pitchFamily="34" charset="-120"/>
              </a:rPr>
              <a:t>Control de funcionalidades según perfil comercial</a:t>
            </a:r>
            <a:endParaRPr lang="en-US" sz="1250" dirty="0"/>
          </a:p>
        </p:txBody>
      </p:sp>
      <p:sp>
        <p:nvSpPr>
          <p:cNvPr id="15" name="Shape 13"/>
          <p:cNvSpPr/>
          <p:nvPr/>
        </p:nvSpPr>
        <p:spPr>
          <a:xfrm>
            <a:off x="640080" y="4069080"/>
            <a:ext cx="5120640" cy="640080"/>
          </a:xfrm>
          <a:prstGeom prst="roundRect">
            <a:avLst>
              <a:gd name="adj" fmla="val 11429"/>
            </a:avLst>
          </a:prstGeom>
          <a:solidFill>
            <a:srgbClr val="FFFFFF"/>
          </a:solidFill>
          <a:ln w="12700">
            <a:solidFill>
              <a:srgbClr val="E2E7F2"/>
            </a:solidFill>
            <a:prstDash val="solid"/>
          </a:ln>
        </p:spPr>
        <p:txBody>
          <a:bodyPr/>
          <a:lstStyle/>
          <a:p>
            <a:endParaRPr lang="es-CL"/>
          </a:p>
        </p:txBody>
      </p:sp>
      <p:sp>
        <p:nvSpPr>
          <p:cNvPr id="16" name="Shape 14"/>
          <p:cNvSpPr/>
          <p:nvPr/>
        </p:nvSpPr>
        <p:spPr>
          <a:xfrm>
            <a:off x="804672" y="4201668"/>
            <a:ext cx="256032" cy="256032"/>
          </a:xfrm>
          <a:prstGeom prst="ellipse">
            <a:avLst/>
          </a:prstGeom>
          <a:solidFill>
            <a:srgbClr val="1E2761"/>
          </a:solidFill>
          <a:ln/>
        </p:spPr>
        <p:txBody>
          <a:bodyPr/>
          <a:lstStyle/>
          <a:p>
            <a:endParaRPr lang="es-CL"/>
          </a:p>
        </p:txBody>
      </p:sp>
      <p:sp>
        <p:nvSpPr>
          <p:cNvPr id="17" name="Text 15"/>
          <p:cNvSpPr txBox="1"/>
          <p:nvPr/>
        </p:nvSpPr>
        <p:spPr>
          <a:xfrm>
            <a:off x="804672" y="420166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1170432" y="4114800"/>
            <a:ext cx="4434840" cy="548640"/>
          </a:xfrm>
          <a:prstGeom prst="rect">
            <a:avLst/>
          </a:prstGeom>
          <a:noFill/>
          <a:ln/>
        </p:spPr>
        <p:txBody>
          <a:bodyPr wrap="square" lIns="0" tIns="0" rIns="0" bIns="0" rtlCol="0" anchor="ctr"/>
          <a:lstStyle/>
          <a:p>
            <a:pPr marL="0" indent="0">
              <a:lnSpc>
                <a:spcPct val="105000"/>
              </a:lnSpc>
              <a:buNone/>
            </a:pPr>
            <a:r>
              <a:rPr lang="en-US" sz="1250" dirty="0">
                <a:solidFill>
                  <a:srgbClr val="1F2430"/>
                </a:solidFill>
                <a:latin typeface="Calibri" pitchFamily="34" charset="0"/>
                <a:ea typeface="Calibri" pitchFamily="34" charset="-122"/>
                <a:cs typeface="Calibri" pitchFamily="34" charset="-120"/>
              </a:rPr>
              <a:t>RBAC granular y autenticación JWT</a:t>
            </a:r>
            <a:endParaRPr lang="en-US" sz="1250" dirty="0"/>
          </a:p>
        </p:txBody>
      </p:sp>
      <p:sp>
        <p:nvSpPr>
          <p:cNvPr id="19" name="Shape 17"/>
          <p:cNvSpPr/>
          <p:nvPr/>
        </p:nvSpPr>
        <p:spPr>
          <a:xfrm>
            <a:off x="6035040" y="4069080"/>
            <a:ext cx="5120640" cy="640080"/>
          </a:xfrm>
          <a:prstGeom prst="roundRect">
            <a:avLst>
              <a:gd name="adj" fmla="val 11429"/>
            </a:avLst>
          </a:prstGeom>
          <a:solidFill>
            <a:srgbClr val="FFFFFF"/>
          </a:solidFill>
          <a:ln w="12700">
            <a:solidFill>
              <a:srgbClr val="E2E7F2"/>
            </a:solidFill>
            <a:prstDash val="solid"/>
          </a:ln>
        </p:spPr>
        <p:txBody>
          <a:bodyPr/>
          <a:lstStyle/>
          <a:p>
            <a:endParaRPr lang="es-CL"/>
          </a:p>
        </p:txBody>
      </p:sp>
      <p:sp>
        <p:nvSpPr>
          <p:cNvPr id="20" name="Shape 18"/>
          <p:cNvSpPr/>
          <p:nvPr/>
        </p:nvSpPr>
        <p:spPr>
          <a:xfrm>
            <a:off x="6199632" y="4201668"/>
            <a:ext cx="256032" cy="256032"/>
          </a:xfrm>
          <a:prstGeom prst="ellipse">
            <a:avLst/>
          </a:prstGeom>
          <a:solidFill>
            <a:srgbClr val="1E2761"/>
          </a:solidFill>
          <a:ln/>
        </p:spPr>
        <p:txBody>
          <a:bodyPr/>
          <a:lstStyle/>
          <a:p>
            <a:endParaRPr lang="es-CL"/>
          </a:p>
        </p:txBody>
      </p:sp>
      <p:sp>
        <p:nvSpPr>
          <p:cNvPr id="21" name="Text 19"/>
          <p:cNvSpPr txBox="1"/>
          <p:nvPr/>
        </p:nvSpPr>
        <p:spPr>
          <a:xfrm>
            <a:off x="6199632" y="420166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6565392" y="4114800"/>
            <a:ext cx="4434840" cy="548640"/>
          </a:xfrm>
          <a:prstGeom prst="rect">
            <a:avLst/>
          </a:prstGeom>
          <a:noFill/>
          <a:ln/>
        </p:spPr>
        <p:txBody>
          <a:bodyPr wrap="square" lIns="0" tIns="0" rIns="0" bIns="0" rtlCol="0" anchor="ctr"/>
          <a:lstStyle/>
          <a:p>
            <a:pPr marL="0" indent="0">
              <a:lnSpc>
                <a:spcPct val="105000"/>
              </a:lnSpc>
              <a:buNone/>
            </a:pPr>
            <a:r>
              <a:rPr lang="en-US" sz="1250" dirty="0">
                <a:solidFill>
                  <a:srgbClr val="1F2430"/>
                </a:solidFill>
                <a:latin typeface="Calibri" pitchFamily="34" charset="0"/>
                <a:ea typeface="Calibri" pitchFamily="34" charset="-122"/>
                <a:cs typeface="Calibri" pitchFamily="34" charset="-120"/>
              </a:rPr>
              <a:t>Internacionalización de la plataforma</a:t>
            </a:r>
            <a:endParaRPr lang="en-US" sz="1250" dirty="0"/>
          </a:p>
        </p:txBody>
      </p:sp>
      <p:sp>
        <p:nvSpPr>
          <p:cNvPr id="23" name="Shape 21"/>
          <p:cNvSpPr/>
          <p:nvPr/>
        </p:nvSpPr>
        <p:spPr>
          <a:xfrm>
            <a:off x="640080" y="4846320"/>
            <a:ext cx="5120640" cy="640080"/>
          </a:xfrm>
          <a:prstGeom prst="roundRect">
            <a:avLst>
              <a:gd name="adj" fmla="val 11429"/>
            </a:avLst>
          </a:prstGeom>
          <a:solidFill>
            <a:srgbClr val="FFFFFF"/>
          </a:solidFill>
          <a:ln w="12700">
            <a:solidFill>
              <a:srgbClr val="E2E7F2"/>
            </a:solidFill>
            <a:prstDash val="solid"/>
          </a:ln>
        </p:spPr>
        <p:txBody>
          <a:bodyPr/>
          <a:lstStyle/>
          <a:p>
            <a:endParaRPr lang="es-CL"/>
          </a:p>
        </p:txBody>
      </p:sp>
      <p:sp>
        <p:nvSpPr>
          <p:cNvPr id="24" name="Shape 22"/>
          <p:cNvSpPr/>
          <p:nvPr/>
        </p:nvSpPr>
        <p:spPr>
          <a:xfrm>
            <a:off x="804672" y="4978908"/>
            <a:ext cx="256032" cy="256032"/>
          </a:xfrm>
          <a:prstGeom prst="ellipse">
            <a:avLst/>
          </a:prstGeom>
          <a:solidFill>
            <a:srgbClr val="1E2761"/>
          </a:solidFill>
          <a:ln/>
        </p:spPr>
        <p:txBody>
          <a:bodyPr/>
          <a:lstStyle/>
          <a:p>
            <a:endParaRPr lang="es-CL"/>
          </a:p>
        </p:txBody>
      </p:sp>
      <p:sp>
        <p:nvSpPr>
          <p:cNvPr id="25" name="Text 23"/>
          <p:cNvSpPr txBox="1"/>
          <p:nvPr/>
        </p:nvSpPr>
        <p:spPr>
          <a:xfrm>
            <a:off x="804672" y="497890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txBox="1"/>
          <p:nvPr/>
        </p:nvSpPr>
        <p:spPr>
          <a:xfrm>
            <a:off x="1170432" y="4892040"/>
            <a:ext cx="4434840" cy="548640"/>
          </a:xfrm>
          <a:prstGeom prst="rect">
            <a:avLst/>
          </a:prstGeom>
          <a:noFill/>
          <a:ln/>
        </p:spPr>
        <p:txBody>
          <a:bodyPr wrap="square" lIns="0" tIns="0" rIns="0" bIns="0" rtlCol="0" anchor="ctr"/>
          <a:lstStyle/>
          <a:p>
            <a:pPr marL="0" indent="0">
              <a:lnSpc>
                <a:spcPct val="105000"/>
              </a:lnSpc>
              <a:buNone/>
            </a:pPr>
            <a:r>
              <a:rPr lang="en-US" sz="1250" dirty="0">
                <a:solidFill>
                  <a:srgbClr val="1F2430"/>
                </a:solidFill>
                <a:latin typeface="Calibri" pitchFamily="34" charset="0"/>
                <a:ea typeface="Calibri" pitchFamily="34" charset="-122"/>
                <a:cs typeface="Calibri" pitchFamily="34" charset="-120"/>
              </a:rPr>
              <a:t>Arquitectura API-First</a:t>
            </a:r>
            <a:endParaRPr lang="en-US" sz="1250" dirty="0"/>
          </a:p>
        </p:txBody>
      </p:sp>
      <p:sp>
        <p:nvSpPr>
          <p:cNvPr id="27" name="Shape 25"/>
          <p:cNvSpPr/>
          <p:nvPr/>
        </p:nvSpPr>
        <p:spPr>
          <a:xfrm>
            <a:off x="6035040" y="4846320"/>
            <a:ext cx="5120640" cy="640080"/>
          </a:xfrm>
          <a:prstGeom prst="roundRect">
            <a:avLst>
              <a:gd name="adj" fmla="val 11429"/>
            </a:avLst>
          </a:prstGeom>
          <a:solidFill>
            <a:srgbClr val="FFFFFF"/>
          </a:solidFill>
          <a:ln w="12700">
            <a:solidFill>
              <a:srgbClr val="E2E7F2"/>
            </a:solidFill>
            <a:prstDash val="solid"/>
          </a:ln>
        </p:spPr>
        <p:txBody>
          <a:bodyPr/>
          <a:lstStyle/>
          <a:p>
            <a:endParaRPr lang="es-CL"/>
          </a:p>
        </p:txBody>
      </p:sp>
      <p:sp>
        <p:nvSpPr>
          <p:cNvPr id="28" name="Shape 26"/>
          <p:cNvSpPr/>
          <p:nvPr/>
        </p:nvSpPr>
        <p:spPr>
          <a:xfrm>
            <a:off x="6199632" y="4978908"/>
            <a:ext cx="256032" cy="256032"/>
          </a:xfrm>
          <a:prstGeom prst="ellipse">
            <a:avLst/>
          </a:prstGeom>
          <a:solidFill>
            <a:srgbClr val="1E2761"/>
          </a:solidFill>
          <a:ln/>
        </p:spPr>
        <p:txBody>
          <a:bodyPr/>
          <a:lstStyle/>
          <a:p>
            <a:endParaRPr lang="es-CL"/>
          </a:p>
        </p:txBody>
      </p:sp>
      <p:sp>
        <p:nvSpPr>
          <p:cNvPr id="29" name="Text 27"/>
          <p:cNvSpPr txBox="1"/>
          <p:nvPr/>
        </p:nvSpPr>
        <p:spPr>
          <a:xfrm>
            <a:off x="6199632" y="497890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8"/>
          <p:cNvSpPr txBox="1"/>
          <p:nvPr/>
        </p:nvSpPr>
        <p:spPr>
          <a:xfrm>
            <a:off x="6565392" y="4892040"/>
            <a:ext cx="4434840" cy="548640"/>
          </a:xfrm>
          <a:prstGeom prst="rect">
            <a:avLst/>
          </a:prstGeom>
          <a:noFill/>
          <a:ln/>
        </p:spPr>
        <p:txBody>
          <a:bodyPr wrap="square" lIns="0" tIns="0" rIns="0" bIns="0" rtlCol="0" anchor="ctr"/>
          <a:lstStyle/>
          <a:p>
            <a:pPr marL="0" indent="0">
              <a:lnSpc>
                <a:spcPct val="105000"/>
              </a:lnSpc>
              <a:buNone/>
            </a:pPr>
            <a:r>
              <a:rPr lang="en-US" sz="1250" dirty="0">
                <a:solidFill>
                  <a:srgbClr val="1F2430"/>
                </a:solidFill>
                <a:latin typeface="Calibri" pitchFamily="34" charset="0"/>
                <a:ea typeface="Calibri" pitchFamily="34" charset="-122"/>
                <a:cs typeface="Calibri" pitchFamily="34" charset="-120"/>
              </a:rPr>
              <a:t>Auditoría y trazabilidad mediante logs</a:t>
            </a:r>
            <a:endParaRPr lang="en-US" sz="1250" dirty="0"/>
          </a:p>
        </p:txBody>
      </p:sp>
      <p:sp>
        <p:nvSpPr>
          <p:cNvPr id="31" name="Text 29"/>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DESCRIPCIÓN</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Cómo se aborda el proyecto</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Shape 3"/>
          <p:cNvSpPr/>
          <p:nvPr/>
        </p:nvSpPr>
        <p:spPr>
          <a:xfrm>
            <a:off x="640080" y="1965960"/>
            <a:ext cx="2514600" cy="2834640"/>
          </a:xfrm>
          <a:prstGeom prst="roundRect">
            <a:avLst>
              <a:gd name="adj" fmla="val 3636"/>
            </a:avLst>
          </a:prstGeom>
          <a:solidFill>
            <a:srgbClr val="1E2761"/>
          </a:solidFill>
          <a:ln/>
        </p:spPr>
        <p:txBody>
          <a:bodyPr/>
          <a:lstStyle/>
          <a:p>
            <a:endParaRPr lang="es-CL"/>
          </a:p>
        </p:txBody>
      </p:sp>
      <p:sp>
        <p:nvSpPr>
          <p:cNvPr id="6" name="Text 4"/>
          <p:cNvSpPr txBox="1"/>
          <p:nvPr/>
        </p:nvSpPr>
        <p:spPr>
          <a:xfrm>
            <a:off x="822960" y="2148840"/>
            <a:ext cx="914400" cy="640080"/>
          </a:xfrm>
          <a:prstGeom prst="rect">
            <a:avLst/>
          </a:prstGeom>
          <a:noFill/>
          <a:ln/>
        </p:spPr>
        <p:txBody>
          <a:bodyPr wrap="square" lIns="0" tIns="0" rIns="0" bIns="0" rtlCol="0" anchor="ctr"/>
          <a:lstStyle/>
          <a:p>
            <a:pPr marL="0" indent="0">
              <a:buNone/>
            </a:pPr>
            <a:r>
              <a:rPr lang="en-US" sz="3400" b="1" dirty="0">
                <a:solidFill>
                  <a:srgbClr val="D9A441"/>
                </a:solidFill>
                <a:latin typeface="Cambria" pitchFamily="34" charset="0"/>
                <a:ea typeface="Cambria" pitchFamily="34" charset="-122"/>
                <a:cs typeface="Cambria" pitchFamily="34" charset="-120"/>
              </a:rPr>
              <a:t>1</a:t>
            </a:r>
            <a:endParaRPr lang="en-US" sz="3400" dirty="0"/>
          </a:p>
        </p:txBody>
      </p:sp>
      <p:sp>
        <p:nvSpPr>
          <p:cNvPr id="7" name="Text 5"/>
          <p:cNvSpPr txBox="1"/>
          <p:nvPr/>
        </p:nvSpPr>
        <p:spPr>
          <a:xfrm>
            <a:off x="822960" y="2834640"/>
            <a:ext cx="2148840"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Analizar</a:t>
            </a:r>
            <a:endParaRPr lang="en-US" sz="1600" dirty="0"/>
          </a:p>
        </p:txBody>
      </p:sp>
      <p:sp>
        <p:nvSpPr>
          <p:cNvPr id="8" name="Text 6"/>
          <p:cNvSpPr txBox="1"/>
          <p:nvPr/>
        </p:nvSpPr>
        <p:spPr>
          <a:xfrm>
            <a:off x="822960" y="3337560"/>
            <a:ext cx="2148840" cy="132588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la solución actual de ISO 27001 e identificar componentes reutilizables.</a:t>
            </a:r>
            <a:endParaRPr lang="en-US" sz="1200" dirty="0"/>
          </a:p>
        </p:txBody>
      </p:sp>
      <p:sp>
        <p:nvSpPr>
          <p:cNvPr id="9" name="Text 7"/>
          <p:cNvSpPr txBox="1"/>
          <p:nvPr/>
        </p:nvSpPr>
        <p:spPr>
          <a:xfrm>
            <a:off x="3136392" y="3063240"/>
            <a:ext cx="457200" cy="640080"/>
          </a:xfrm>
          <a:prstGeom prst="rect">
            <a:avLst/>
          </a:prstGeom>
          <a:noFill/>
          <a:ln/>
        </p:spPr>
        <p:txBody>
          <a:bodyPr wrap="square" lIns="0" tIns="0" rIns="0" bIns="0" rtlCol="0" anchor="ctr"/>
          <a:lstStyle/>
          <a:p>
            <a:pPr marL="0" indent="0" algn="ctr">
              <a:buNone/>
            </a:pPr>
            <a:r>
              <a:rPr lang="en-US" sz="2600" b="1" dirty="0">
                <a:solidFill>
                  <a:srgbClr val="D9A441"/>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3383280" y="1965960"/>
            <a:ext cx="2514600" cy="2834640"/>
          </a:xfrm>
          <a:prstGeom prst="roundRect">
            <a:avLst>
              <a:gd name="adj" fmla="val 3636"/>
            </a:avLst>
          </a:prstGeom>
          <a:solidFill>
            <a:srgbClr val="2B3782"/>
          </a:solidFill>
          <a:ln/>
        </p:spPr>
        <p:txBody>
          <a:bodyPr/>
          <a:lstStyle/>
          <a:p>
            <a:endParaRPr lang="es-CL"/>
          </a:p>
        </p:txBody>
      </p:sp>
      <p:sp>
        <p:nvSpPr>
          <p:cNvPr id="11" name="Text 9"/>
          <p:cNvSpPr txBox="1"/>
          <p:nvPr/>
        </p:nvSpPr>
        <p:spPr>
          <a:xfrm>
            <a:off x="3566160" y="2148840"/>
            <a:ext cx="914400" cy="640080"/>
          </a:xfrm>
          <a:prstGeom prst="rect">
            <a:avLst/>
          </a:prstGeom>
          <a:noFill/>
          <a:ln/>
        </p:spPr>
        <p:txBody>
          <a:bodyPr wrap="square" lIns="0" tIns="0" rIns="0" bIns="0" rtlCol="0" anchor="ctr"/>
          <a:lstStyle/>
          <a:p>
            <a:pPr marL="0" indent="0">
              <a:buNone/>
            </a:pPr>
            <a:r>
              <a:rPr lang="en-US" sz="3400" b="1" dirty="0">
                <a:solidFill>
                  <a:srgbClr val="D9A441"/>
                </a:solidFill>
                <a:latin typeface="Cambria" pitchFamily="34" charset="0"/>
                <a:ea typeface="Cambria" pitchFamily="34" charset="-122"/>
                <a:cs typeface="Cambria" pitchFamily="34" charset="-120"/>
              </a:rPr>
              <a:t>2</a:t>
            </a:r>
            <a:endParaRPr lang="en-US" sz="3400" dirty="0"/>
          </a:p>
        </p:txBody>
      </p:sp>
      <p:sp>
        <p:nvSpPr>
          <p:cNvPr id="12" name="Text 10"/>
          <p:cNvSpPr txBox="1"/>
          <p:nvPr/>
        </p:nvSpPr>
        <p:spPr>
          <a:xfrm>
            <a:off x="3566160" y="2834640"/>
            <a:ext cx="2148840"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Levantar</a:t>
            </a:r>
            <a:endParaRPr lang="en-US" sz="1600" dirty="0"/>
          </a:p>
        </p:txBody>
      </p:sp>
      <p:sp>
        <p:nvSpPr>
          <p:cNvPr id="13" name="Text 11"/>
          <p:cNvSpPr txBox="1"/>
          <p:nvPr/>
        </p:nvSpPr>
        <p:spPr>
          <a:xfrm>
            <a:off x="3566160" y="3337560"/>
            <a:ext cx="2148840" cy="132588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los requerimientos necesarios para incorporar ISO 42001.</a:t>
            </a:r>
            <a:endParaRPr lang="en-US" sz="1200" dirty="0"/>
          </a:p>
        </p:txBody>
      </p:sp>
      <p:sp>
        <p:nvSpPr>
          <p:cNvPr id="14" name="Text 12"/>
          <p:cNvSpPr txBox="1"/>
          <p:nvPr/>
        </p:nvSpPr>
        <p:spPr>
          <a:xfrm>
            <a:off x="5879592" y="3063240"/>
            <a:ext cx="457200" cy="640080"/>
          </a:xfrm>
          <a:prstGeom prst="rect">
            <a:avLst/>
          </a:prstGeom>
          <a:noFill/>
          <a:ln/>
        </p:spPr>
        <p:txBody>
          <a:bodyPr wrap="square" lIns="0" tIns="0" rIns="0" bIns="0" rtlCol="0" anchor="ctr"/>
          <a:lstStyle/>
          <a:p>
            <a:pPr marL="0" indent="0" algn="ctr">
              <a:buNone/>
            </a:pPr>
            <a:r>
              <a:rPr lang="en-US" sz="2600" b="1" dirty="0">
                <a:solidFill>
                  <a:srgbClr val="D9A441"/>
                </a:solidFill>
                <a:latin typeface="Calibri" pitchFamily="34" charset="0"/>
                <a:ea typeface="Calibri" pitchFamily="34" charset="-122"/>
                <a:cs typeface="Calibri" pitchFamily="34" charset="-120"/>
              </a:rPr>
              <a:t>›</a:t>
            </a:r>
            <a:endParaRPr lang="en-US" sz="2600" dirty="0"/>
          </a:p>
        </p:txBody>
      </p:sp>
      <p:sp>
        <p:nvSpPr>
          <p:cNvPr id="15" name="Shape 13"/>
          <p:cNvSpPr/>
          <p:nvPr/>
        </p:nvSpPr>
        <p:spPr>
          <a:xfrm>
            <a:off x="6126480" y="1965960"/>
            <a:ext cx="2514600" cy="2834640"/>
          </a:xfrm>
          <a:prstGeom prst="roundRect">
            <a:avLst>
              <a:gd name="adj" fmla="val 3636"/>
            </a:avLst>
          </a:prstGeom>
          <a:solidFill>
            <a:srgbClr val="1E2761"/>
          </a:solidFill>
          <a:ln/>
        </p:spPr>
        <p:txBody>
          <a:bodyPr/>
          <a:lstStyle/>
          <a:p>
            <a:endParaRPr lang="es-CL"/>
          </a:p>
        </p:txBody>
      </p:sp>
      <p:sp>
        <p:nvSpPr>
          <p:cNvPr id="16" name="Text 14"/>
          <p:cNvSpPr txBox="1"/>
          <p:nvPr/>
        </p:nvSpPr>
        <p:spPr>
          <a:xfrm>
            <a:off x="6309360" y="2148840"/>
            <a:ext cx="914400" cy="640080"/>
          </a:xfrm>
          <a:prstGeom prst="rect">
            <a:avLst/>
          </a:prstGeom>
          <a:noFill/>
          <a:ln/>
        </p:spPr>
        <p:txBody>
          <a:bodyPr wrap="square" lIns="0" tIns="0" rIns="0" bIns="0" rtlCol="0" anchor="ctr"/>
          <a:lstStyle/>
          <a:p>
            <a:pPr marL="0" indent="0">
              <a:buNone/>
            </a:pPr>
            <a:r>
              <a:rPr lang="en-US" sz="3400" b="1" dirty="0">
                <a:solidFill>
                  <a:srgbClr val="D9A441"/>
                </a:solidFill>
                <a:latin typeface="Cambria" pitchFamily="34" charset="0"/>
                <a:ea typeface="Cambria" pitchFamily="34" charset="-122"/>
                <a:cs typeface="Cambria" pitchFamily="34" charset="-120"/>
              </a:rPr>
              <a:t>3</a:t>
            </a:r>
            <a:endParaRPr lang="en-US" sz="3400" dirty="0"/>
          </a:p>
        </p:txBody>
      </p:sp>
      <p:sp>
        <p:nvSpPr>
          <p:cNvPr id="17" name="Text 15"/>
          <p:cNvSpPr txBox="1"/>
          <p:nvPr/>
        </p:nvSpPr>
        <p:spPr>
          <a:xfrm>
            <a:off x="6309360" y="2834640"/>
            <a:ext cx="2148840"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Diseñar e implementar</a:t>
            </a:r>
            <a:endParaRPr lang="en-US" sz="1600" dirty="0"/>
          </a:p>
        </p:txBody>
      </p:sp>
      <p:sp>
        <p:nvSpPr>
          <p:cNvPr id="18" name="Text 16"/>
          <p:cNvSpPr txBox="1"/>
          <p:nvPr/>
        </p:nvSpPr>
        <p:spPr>
          <a:xfrm>
            <a:off x="6309360" y="3337560"/>
            <a:ext cx="2148840" cy="132588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las funcionalidades requeridas para la nueva gestión.</a:t>
            </a:r>
            <a:endParaRPr lang="en-US" sz="1200" dirty="0"/>
          </a:p>
        </p:txBody>
      </p:sp>
      <p:sp>
        <p:nvSpPr>
          <p:cNvPr id="19" name="Text 17"/>
          <p:cNvSpPr txBox="1"/>
          <p:nvPr/>
        </p:nvSpPr>
        <p:spPr>
          <a:xfrm>
            <a:off x="8622792" y="3063240"/>
            <a:ext cx="457200" cy="640080"/>
          </a:xfrm>
          <a:prstGeom prst="rect">
            <a:avLst/>
          </a:prstGeom>
          <a:noFill/>
          <a:ln/>
        </p:spPr>
        <p:txBody>
          <a:bodyPr wrap="square" lIns="0" tIns="0" rIns="0" bIns="0" rtlCol="0" anchor="ctr"/>
          <a:lstStyle/>
          <a:p>
            <a:pPr marL="0" indent="0" algn="ctr">
              <a:buNone/>
            </a:pPr>
            <a:r>
              <a:rPr lang="en-US" sz="2600" b="1" dirty="0">
                <a:solidFill>
                  <a:srgbClr val="D9A441"/>
                </a:solidFill>
                <a:latin typeface="Calibri" pitchFamily="34" charset="0"/>
                <a:ea typeface="Calibri" pitchFamily="34" charset="-122"/>
                <a:cs typeface="Calibri" pitchFamily="34" charset="-120"/>
              </a:rPr>
              <a:t>›</a:t>
            </a:r>
            <a:endParaRPr lang="en-US" sz="2600" dirty="0"/>
          </a:p>
        </p:txBody>
      </p:sp>
      <p:sp>
        <p:nvSpPr>
          <p:cNvPr id="20" name="Shape 18"/>
          <p:cNvSpPr/>
          <p:nvPr/>
        </p:nvSpPr>
        <p:spPr>
          <a:xfrm>
            <a:off x="8869680" y="1965960"/>
            <a:ext cx="2514600" cy="2834640"/>
          </a:xfrm>
          <a:prstGeom prst="roundRect">
            <a:avLst>
              <a:gd name="adj" fmla="val 3636"/>
            </a:avLst>
          </a:prstGeom>
          <a:solidFill>
            <a:srgbClr val="2B3782"/>
          </a:solidFill>
          <a:ln/>
        </p:spPr>
        <p:txBody>
          <a:bodyPr/>
          <a:lstStyle/>
          <a:p>
            <a:endParaRPr lang="es-CL"/>
          </a:p>
        </p:txBody>
      </p:sp>
      <p:sp>
        <p:nvSpPr>
          <p:cNvPr id="21" name="Text 19"/>
          <p:cNvSpPr txBox="1"/>
          <p:nvPr/>
        </p:nvSpPr>
        <p:spPr>
          <a:xfrm>
            <a:off x="9052560" y="2148840"/>
            <a:ext cx="914400" cy="640080"/>
          </a:xfrm>
          <a:prstGeom prst="rect">
            <a:avLst/>
          </a:prstGeom>
          <a:noFill/>
          <a:ln/>
        </p:spPr>
        <p:txBody>
          <a:bodyPr wrap="square" lIns="0" tIns="0" rIns="0" bIns="0" rtlCol="0" anchor="ctr"/>
          <a:lstStyle/>
          <a:p>
            <a:pPr marL="0" indent="0">
              <a:buNone/>
            </a:pPr>
            <a:r>
              <a:rPr lang="en-US" sz="3400" b="1" dirty="0">
                <a:solidFill>
                  <a:srgbClr val="D9A441"/>
                </a:solidFill>
                <a:latin typeface="Cambria" pitchFamily="34" charset="0"/>
                <a:ea typeface="Cambria" pitchFamily="34" charset="-122"/>
                <a:cs typeface="Cambria" pitchFamily="34" charset="-120"/>
              </a:rPr>
              <a:t>4</a:t>
            </a:r>
            <a:endParaRPr lang="en-US" sz="3400" dirty="0"/>
          </a:p>
        </p:txBody>
      </p:sp>
      <p:sp>
        <p:nvSpPr>
          <p:cNvPr id="22" name="Text 20"/>
          <p:cNvSpPr txBox="1"/>
          <p:nvPr/>
        </p:nvSpPr>
        <p:spPr>
          <a:xfrm>
            <a:off x="9052560" y="2834640"/>
            <a:ext cx="2148840" cy="50292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Integrar</a:t>
            </a:r>
            <a:endParaRPr lang="en-US" sz="1600" dirty="0"/>
          </a:p>
        </p:txBody>
      </p:sp>
      <p:sp>
        <p:nvSpPr>
          <p:cNvPr id="23" name="Text 21"/>
          <p:cNvSpPr txBox="1"/>
          <p:nvPr/>
        </p:nvSpPr>
        <p:spPr>
          <a:xfrm>
            <a:off x="9052560" y="3337560"/>
            <a:ext cx="2148840" cy="1325880"/>
          </a:xfrm>
          <a:prstGeom prst="rect">
            <a:avLst/>
          </a:prstGeom>
          <a:noFill/>
          <a:ln/>
        </p:spPr>
        <p:txBody>
          <a:bodyPr wrap="square" lIns="0" tIns="0" rIns="0" bIns="0"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todo con la plataforma existente, sin perder la operación de ISO 27001.</a:t>
            </a:r>
            <a:endParaRPr lang="en-US" sz="1200" dirty="0"/>
          </a:p>
        </p:txBody>
      </p:sp>
      <p:sp>
        <p:nvSpPr>
          <p:cNvPr id="24" name="Shape 22"/>
          <p:cNvSpPr/>
          <p:nvPr/>
        </p:nvSpPr>
        <p:spPr>
          <a:xfrm>
            <a:off x="640080" y="5166360"/>
            <a:ext cx="10515600" cy="960120"/>
          </a:xfrm>
          <a:prstGeom prst="roundRect">
            <a:avLst>
              <a:gd name="adj" fmla="val 9524"/>
            </a:avLst>
          </a:prstGeom>
          <a:solidFill>
            <a:srgbClr val="FFFFFF"/>
          </a:solidFill>
          <a:ln w="19050">
            <a:solidFill>
              <a:srgbClr val="D9A441"/>
            </a:solidFill>
            <a:prstDash val="solid"/>
          </a:ln>
        </p:spPr>
        <p:txBody>
          <a:bodyPr/>
          <a:lstStyle/>
          <a:p>
            <a:endParaRPr lang="es-CL"/>
          </a:p>
        </p:txBody>
      </p:sp>
      <p:sp>
        <p:nvSpPr>
          <p:cNvPr id="25" name="Text 23"/>
          <p:cNvSpPr txBox="1"/>
          <p:nvPr/>
        </p:nvSpPr>
        <p:spPr>
          <a:xfrm>
            <a:off x="914400" y="5285232"/>
            <a:ext cx="2743200" cy="274320"/>
          </a:xfrm>
          <a:prstGeom prst="rect">
            <a:avLst/>
          </a:prstGeom>
          <a:noFill/>
          <a:ln/>
        </p:spPr>
        <p:txBody>
          <a:bodyPr wrap="square" lIns="0" tIns="0" rIns="0" bIns="0" rtlCol="0" anchor="ctr"/>
          <a:lstStyle/>
          <a:p>
            <a:pPr marL="0" indent="0">
              <a:buNone/>
            </a:pPr>
            <a:r>
              <a:rPr lang="en-US" sz="1100" b="1" kern="0" spc="150" dirty="0">
                <a:solidFill>
                  <a:srgbClr val="D9A441"/>
                </a:solidFill>
                <a:latin typeface="Calibri" pitchFamily="34" charset="0"/>
                <a:ea typeface="Calibri" pitchFamily="34" charset="-122"/>
                <a:cs typeface="Calibri" pitchFamily="34" charset="-120"/>
              </a:rPr>
              <a:t>RESULTADO ESPERADO</a:t>
            </a:r>
            <a:endParaRPr lang="en-US" sz="1100" dirty="0"/>
          </a:p>
        </p:txBody>
      </p:sp>
      <p:sp>
        <p:nvSpPr>
          <p:cNvPr id="26" name="Text 24"/>
          <p:cNvSpPr txBox="1"/>
          <p:nvPr/>
        </p:nvSpPr>
        <p:spPr>
          <a:xfrm>
            <a:off x="914400" y="5532120"/>
            <a:ext cx="9966960" cy="548640"/>
          </a:xfrm>
          <a:prstGeom prst="rect">
            <a:avLst/>
          </a:prstGeom>
          <a:noFill/>
          <a:ln/>
        </p:spPr>
        <p:txBody>
          <a:bodyPr wrap="square" lIns="0" tIns="0" rIns="0" bIns="0" rtlCol="0" anchor="ctr"/>
          <a:lstStyle/>
          <a:p>
            <a:pPr marL="0" indent="0">
              <a:lnSpc>
                <a:spcPct val="120000"/>
              </a:lnSpc>
              <a:buNone/>
            </a:pPr>
            <a:r>
              <a:rPr lang="en-US" sz="1300" dirty="0">
                <a:solidFill>
                  <a:srgbClr val="1F2430"/>
                </a:solidFill>
                <a:latin typeface="Calibri" pitchFamily="34" charset="0"/>
                <a:ea typeface="Calibri" pitchFamily="34" charset="-122"/>
                <a:cs typeface="Calibri" pitchFamily="34" charset="-120"/>
              </a:rPr>
              <a:t>La plataforma existente amplía sus capacidades y permite trabajar tanto con ISO 27001 como con ISO 42001, sin construir un sistema separado desde cero.</a:t>
            </a:r>
            <a:endParaRPr lang="en-US" sz="1300" dirty="0"/>
          </a:p>
        </p:txBody>
      </p:sp>
      <p:sp>
        <p:nvSpPr>
          <p:cNvPr id="27" name="Text 25"/>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STACK TÉCNICO</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Tecnologías y herramientas</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Text 3"/>
          <p:cNvSpPr txBox="1"/>
          <p:nvPr/>
        </p:nvSpPr>
        <p:spPr>
          <a:xfrm>
            <a:off x="640080" y="1737360"/>
            <a:ext cx="10515600" cy="457200"/>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La plataforma DANI27, sobre la que se construye esta ampliación, ya está implementada y desplegada con el siguiente stack:</a:t>
            </a:r>
            <a:endParaRPr lang="en-US" sz="1400" dirty="0"/>
          </a:p>
        </p:txBody>
      </p:sp>
      <p:sp>
        <p:nvSpPr>
          <p:cNvPr id="6" name="Shape 4"/>
          <p:cNvSpPr/>
          <p:nvPr/>
        </p:nvSpPr>
        <p:spPr>
          <a:xfrm>
            <a:off x="640080" y="2423160"/>
            <a:ext cx="5120640" cy="868680"/>
          </a:xfrm>
          <a:prstGeom prst="roundRect">
            <a:avLst>
              <a:gd name="adj" fmla="val 9474"/>
            </a:avLst>
          </a:prstGeom>
          <a:solidFill>
            <a:srgbClr val="FFFFFF"/>
          </a:solidFill>
          <a:ln w="12700">
            <a:solidFill>
              <a:srgbClr val="E2E7F2"/>
            </a:solidFill>
            <a:prstDash val="solid"/>
          </a:ln>
          <a:effectLst>
            <a:outerShdw blurRad="76200" dist="25400" dir="5400000" algn="bl" rotWithShape="0">
              <a:srgbClr val="1E2761">
                <a:alpha val="8000"/>
              </a:srgbClr>
            </a:outerShdw>
          </a:effectLst>
        </p:spPr>
        <p:txBody>
          <a:bodyPr/>
          <a:lstStyle/>
          <a:p>
            <a:endParaRPr lang="es-CL"/>
          </a:p>
        </p:txBody>
      </p:sp>
      <p:sp>
        <p:nvSpPr>
          <p:cNvPr id="7" name="Shape 5"/>
          <p:cNvSpPr/>
          <p:nvPr/>
        </p:nvSpPr>
        <p:spPr>
          <a:xfrm>
            <a:off x="640080" y="2423160"/>
            <a:ext cx="82296" cy="868680"/>
          </a:xfrm>
          <a:prstGeom prst="rect">
            <a:avLst/>
          </a:prstGeom>
          <a:solidFill>
            <a:srgbClr val="D9A441"/>
          </a:solidFill>
          <a:ln/>
        </p:spPr>
        <p:txBody>
          <a:bodyPr/>
          <a:lstStyle/>
          <a:p>
            <a:endParaRPr lang="es-CL"/>
          </a:p>
        </p:txBody>
      </p:sp>
      <p:sp>
        <p:nvSpPr>
          <p:cNvPr id="8" name="Text 6"/>
          <p:cNvSpPr txBox="1"/>
          <p:nvPr/>
        </p:nvSpPr>
        <p:spPr>
          <a:xfrm>
            <a:off x="960120" y="2514600"/>
            <a:ext cx="4617720" cy="36576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Frontend</a:t>
            </a:r>
            <a:endParaRPr lang="en-US" sz="1450" dirty="0"/>
          </a:p>
        </p:txBody>
      </p:sp>
      <p:sp>
        <p:nvSpPr>
          <p:cNvPr id="9" name="Text 7"/>
          <p:cNvSpPr txBox="1"/>
          <p:nvPr/>
        </p:nvSpPr>
        <p:spPr>
          <a:xfrm>
            <a:off x="960120" y="2862072"/>
            <a:ext cx="4617720" cy="457200"/>
          </a:xfrm>
          <a:prstGeom prst="rect">
            <a:avLst/>
          </a:prstGeom>
          <a:noFill/>
          <a:ln/>
        </p:spPr>
        <p:txBody>
          <a:bodyPr wrap="square" lIns="0" tIns="0" rIns="0" bIns="0" rtlCol="0" anchor="ctr"/>
          <a:lstStyle/>
          <a:p>
            <a:pPr marL="0" indent="0">
              <a:lnSpc>
                <a:spcPct val="110000"/>
              </a:lnSpc>
              <a:buNone/>
            </a:pPr>
            <a:r>
              <a:rPr lang="en-US" sz="1250" dirty="0">
                <a:solidFill>
                  <a:srgbClr val="5B6472"/>
                </a:solidFill>
                <a:latin typeface="Calibri" pitchFamily="34" charset="0"/>
                <a:ea typeface="Calibri" pitchFamily="34" charset="-122"/>
                <a:cs typeface="Calibri" pitchFamily="34" charset="-120"/>
              </a:rPr>
              <a:t>React + Vite</a:t>
            </a:r>
            <a:endParaRPr lang="en-US" sz="1250" dirty="0"/>
          </a:p>
        </p:txBody>
      </p:sp>
      <p:sp>
        <p:nvSpPr>
          <p:cNvPr id="10" name="Shape 8"/>
          <p:cNvSpPr/>
          <p:nvPr/>
        </p:nvSpPr>
        <p:spPr>
          <a:xfrm>
            <a:off x="6035040" y="2423160"/>
            <a:ext cx="5120640" cy="868680"/>
          </a:xfrm>
          <a:prstGeom prst="roundRect">
            <a:avLst>
              <a:gd name="adj" fmla="val 9474"/>
            </a:avLst>
          </a:prstGeom>
          <a:solidFill>
            <a:srgbClr val="FFFFFF"/>
          </a:solidFill>
          <a:ln w="12700">
            <a:solidFill>
              <a:srgbClr val="E2E7F2"/>
            </a:solidFill>
            <a:prstDash val="solid"/>
          </a:ln>
          <a:effectLst>
            <a:outerShdw blurRad="76200" dist="25400" dir="5400000" algn="bl" rotWithShape="0">
              <a:srgbClr val="1E2761">
                <a:alpha val="8000"/>
              </a:srgbClr>
            </a:outerShdw>
          </a:effectLst>
        </p:spPr>
        <p:txBody>
          <a:bodyPr/>
          <a:lstStyle/>
          <a:p>
            <a:endParaRPr lang="es-CL"/>
          </a:p>
        </p:txBody>
      </p:sp>
      <p:sp>
        <p:nvSpPr>
          <p:cNvPr id="11" name="Shape 9"/>
          <p:cNvSpPr/>
          <p:nvPr/>
        </p:nvSpPr>
        <p:spPr>
          <a:xfrm>
            <a:off x="6035040" y="2423160"/>
            <a:ext cx="82296" cy="868680"/>
          </a:xfrm>
          <a:prstGeom prst="rect">
            <a:avLst/>
          </a:prstGeom>
          <a:solidFill>
            <a:srgbClr val="D9A441"/>
          </a:solidFill>
          <a:ln/>
        </p:spPr>
        <p:txBody>
          <a:bodyPr/>
          <a:lstStyle/>
          <a:p>
            <a:endParaRPr lang="es-CL"/>
          </a:p>
        </p:txBody>
      </p:sp>
      <p:sp>
        <p:nvSpPr>
          <p:cNvPr id="12" name="Text 10"/>
          <p:cNvSpPr txBox="1"/>
          <p:nvPr/>
        </p:nvSpPr>
        <p:spPr>
          <a:xfrm>
            <a:off x="6355080" y="2514600"/>
            <a:ext cx="4617720" cy="36576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Backend</a:t>
            </a:r>
            <a:endParaRPr lang="en-US" sz="1450" dirty="0"/>
          </a:p>
        </p:txBody>
      </p:sp>
      <p:sp>
        <p:nvSpPr>
          <p:cNvPr id="13" name="Text 11"/>
          <p:cNvSpPr txBox="1"/>
          <p:nvPr/>
        </p:nvSpPr>
        <p:spPr>
          <a:xfrm>
            <a:off x="6355080" y="2862072"/>
            <a:ext cx="4617720" cy="457200"/>
          </a:xfrm>
          <a:prstGeom prst="rect">
            <a:avLst/>
          </a:prstGeom>
          <a:noFill/>
          <a:ln/>
        </p:spPr>
        <p:txBody>
          <a:bodyPr wrap="square" lIns="0" tIns="0" rIns="0" bIns="0" rtlCol="0" anchor="ctr"/>
          <a:lstStyle/>
          <a:p>
            <a:pPr marL="0" indent="0">
              <a:lnSpc>
                <a:spcPct val="110000"/>
              </a:lnSpc>
              <a:buNone/>
            </a:pPr>
            <a:r>
              <a:rPr lang="en-US" sz="1250" dirty="0">
                <a:solidFill>
                  <a:srgbClr val="5B6472"/>
                </a:solidFill>
                <a:latin typeface="Calibri" pitchFamily="34" charset="0"/>
                <a:ea typeface="Calibri" pitchFamily="34" charset="-122"/>
                <a:cs typeface="Calibri" pitchFamily="34" charset="-120"/>
              </a:rPr>
              <a:t>FastAPI (Python) + Celery para tareas asíncronas</a:t>
            </a:r>
            <a:endParaRPr lang="en-US" sz="1250" dirty="0"/>
          </a:p>
        </p:txBody>
      </p:sp>
      <p:sp>
        <p:nvSpPr>
          <p:cNvPr id="14" name="Shape 12"/>
          <p:cNvSpPr/>
          <p:nvPr/>
        </p:nvSpPr>
        <p:spPr>
          <a:xfrm>
            <a:off x="640080" y="3474720"/>
            <a:ext cx="5120640" cy="868680"/>
          </a:xfrm>
          <a:prstGeom prst="roundRect">
            <a:avLst>
              <a:gd name="adj" fmla="val 9474"/>
            </a:avLst>
          </a:prstGeom>
          <a:solidFill>
            <a:srgbClr val="FFFFFF"/>
          </a:solidFill>
          <a:ln w="12700">
            <a:solidFill>
              <a:srgbClr val="E2E7F2"/>
            </a:solidFill>
            <a:prstDash val="solid"/>
          </a:ln>
          <a:effectLst>
            <a:outerShdw blurRad="76200" dist="25400" dir="5400000" algn="bl" rotWithShape="0">
              <a:srgbClr val="1E2761">
                <a:alpha val="8000"/>
              </a:srgbClr>
            </a:outerShdw>
          </a:effectLst>
        </p:spPr>
        <p:txBody>
          <a:bodyPr/>
          <a:lstStyle/>
          <a:p>
            <a:endParaRPr lang="es-CL"/>
          </a:p>
        </p:txBody>
      </p:sp>
      <p:sp>
        <p:nvSpPr>
          <p:cNvPr id="15" name="Shape 13"/>
          <p:cNvSpPr/>
          <p:nvPr/>
        </p:nvSpPr>
        <p:spPr>
          <a:xfrm>
            <a:off x="640080" y="3474720"/>
            <a:ext cx="82296" cy="868680"/>
          </a:xfrm>
          <a:prstGeom prst="rect">
            <a:avLst/>
          </a:prstGeom>
          <a:solidFill>
            <a:srgbClr val="D9A441"/>
          </a:solidFill>
          <a:ln/>
        </p:spPr>
        <p:txBody>
          <a:bodyPr/>
          <a:lstStyle/>
          <a:p>
            <a:endParaRPr lang="es-CL"/>
          </a:p>
        </p:txBody>
      </p:sp>
      <p:sp>
        <p:nvSpPr>
          <p:cNvPr id="16" name="Text 14"/>
          <p:cNvSpPr txBox="1"/>
          <p:nvPr/>
        </p:nvSpPr>
        <p:spPr>
          <a:xfrm>
            <a:off x="960120" y="3566160"/>
            <a:ext cx="4617720" cy="36576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Base de datos</a:t>
            </a:r>
            <a:endParaRPr lang="en-US" sz="1450" dirty="0"/>
          </a:p>
        </p:txBody>
      </p:sp>
      <p:sp>
        <p:nvSpPr>
          <p:cNvPr id="17" name="Text 15"/>
          <p:cNvSpPr txBox="1"/>
          <p:nvPr/>
        </p:nvSpPr>
        <p:spPr>
          <a:xfrm>
            <a:off x="960120" y="3913632"/>
            <a:ext cx="4617720" cy="457200"/>
          </a:xfrm>
          <a:prstGeom prst="rect">
            <a:avLst/>
          </a:prstGeom>
          <a:noFill/>
          <a:ln/>
        </p:spPr>
        <p:txBody>
          <a:bodyPr wrap="square" lIns="0" tIns="0" rIns="0" bIns="0" rtlCol="0" anchor="ctr"/>
          <a:lstStyle/>
          <a:p>
            <a:pPr marL="0" indent="0">
              <a:lnSpc>
                <a:spcPct val="110000"/>
              </a:lnSpc>
              <a:buNone/>
            </a:pPr>
            <a:r>
              <a:rPr lang="en-US" sz="1250" dirty="0">
                <a:solidFill>
                  <a:srgbClr val="5B6472"/>
                </a:solidFill>
                <a:latin typeface="Calibri" pitchFamily="34" charset="0"/>
                <a:ea typeface="Calibri" pitchFamily="34" charset="-122"/>
                <a:cs typeface="Calibri" pitchFamily="34" charset="-120"/>
              </a:rPr>
              <a:t>PostgreSQL con extensión pgvector</a:t>
            </a:r>
            <a:endParaRPr lang="en-US" sz="1250" dirty="0"/>
          </a:p>
        </p:txBody>
      </p:sp>
      <p:sp>
        <p:nvSpPr>
          <p:cNvPr id="18" name="Shape 16"/>
          <p:cNvSpPr/>
          <p:nvPr/>
        </p:nvSpPr>
        <p:spPr>
          <a:xfrm>
            <a:off x="6035040" y="3474720"/>
            <a:ext cx="5120640" cy="868680"/>
          </a:xfrm>
          <a:prstGeom prst="roundRect">
            <a:avLst>
              <a:gd name="adj" fmla="val 9474"/>
            </a:avLst>
          </a:prstGeom>
          <a:solidFill>
            <a:srgbClr val="FFFFFF"/>
          </a:solidFill>
          <a:ln w="12700">
            <a:solidFill>
              <a:srgbClr val="E2E7F2"/>
            </a:solidFill>
            <a:prstDash val="solid"/>
          </a:ln>
          <a:effectLst>
            <a:outerShdw blurRad="76200" dist="25400" dir="5400000" algn="bl" rotWithShape="0">
              <a:srgbClr val="1E2761">
                <a:alpha val="8000"/>
              </a:srgbClr>
            </a:outerShdw>
          </a:effectLst>
        </p:spPr>
        <p:txBody>
          <a:bodyPr/>
          <a:lstStyle/>
          <a:p>
            <a:endParaRPr lang="es-CL"/>
          </a:p>
        </p:txBody>
      </p:sp>
      <p:sp>
        <p:nvSpPr>
          <p:cNvPr id="19" name="Shape 17"/>
          <p:cNvSpPr/>
          <p:nvPr/>
        </p:nvSpPr>
        <p:spPr>
          <a:xfrm>
            <a:off x="6035040" y="3474720"/>
            <a:ext cx="82296" cy="868680"/>
          </a:xfrm>
          <a:prstGeom prst="rect">
            <a:avLst/>
          </a:prstGeom>
          <a:solidFill>
            <a:srgbClr val="D9A441"/>
          </a:solidFill>
          <a:ln/>
        </p:spPr>
        <p:txBody>
          <a:bodyPr/>
          <a:lstStyle/>
          <a:p>
            <a:endParaRPr lang="es-CL"/>
          </a:p>
        </p:txBody>
      </p:sp>
      <p:sp>
        <p:nvSpPr>
          <p:cNvPr id="20" name="Text 18"/>
          <p:cNvSpPr txBox="1"/>
          <p:nvPr/>
        </p:nvSpPr>
        <p:spPr>
          <a:xfrm>
            <a:off x="6355080" y="3566160"/>
            <a:ext cx="4617720" cy="36576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Cache / broker de mensajería</a:t>
            </a:r>
            <a:endParaRPr lang="en-US" sz="1450" dirty="0"/>
          </a:p>
        </p:txBody>
      </p:sp>
      <p:sp>
        <p:nvSpPr>
          <p:cNvPr id="21" name="Text 19"/>
          <p:cNvSpPr txBox="1"/>
          <p:nvPr/>
        </p:nvSpPr>
        <p:spPr>
          <a:xfrm>
            <a:off x="6355080" y="3913632"/>
            <a:ext cx="4617720" cy="457200"/>
          </a:xfrm>
          <a:prstGeom prst="rect">
            <a:avLst/>
          </a:prstGeom>
          <a:noFill/>
          <a:ln/>
        </p:spPr>
        <p:txBody>
          <a:bodyPr wrap="square" lIns="0" tIns="0" rIns="0" bIns="0" rtlCol="0" anchor="ctr"/>
          <a:lstStyle/>
          <a:p>
            <a:pPr marL="0" indent="0">
              <a:lnSpc>
                <a:spcPct val="110000"/>
              </a:lnSpc>
              <a:buNone/>
            </a:pPr>
            <a:r>
              <a:rPr lang="en-US" sz="1250" dirty="0">
                <a:solidFill>
                  <a:srgbClr val="5B6472"/>
                </a:solidFill>
                <a:latin typeface="Calibri" pitchFamily="34" charset="0"/>
                <a:ea typeface="Calibri" pitchFamily="34" charset="-122"/>
                <a:cs typeface="Calibri" pitchFamily="34" charset="-120"/>
              </a:rPr>
              <a:t>Redis</a:t>
            </a:r>
            <a:endParaRPr lang="en-US" sz="1250" dirty="0"/>
          </a:p>
        </p:txBody>
      </p:sp>
      <p:sp>
        <p:nvSpPr>
          <p:cNvPr id="22" name="Shape 20"/>
          <p:cNvSpPr/>
          <p:nvPr/>
        </p:nvSpPr>
        <p:spPr>
          <a:xfrm>
            <a:off x="640080" y="4526280"/>
            <a:ext cx="5120640" cy="868680"/>
          </a:xfrm>
          <a:prstGeom prst="roundRect">
            <a:avLst>
              <a:gd name="adj" fmla="val 9474"/>
            </a:avLst>
          </a:prstGeom>
          <a:solidFill>
            <a:srgbClr val="FFFFFF"/>
          </a:solidFill>
          <a:ln w="12700">
            <a:solidFill>
              <a:srgbClr val="E2E7F2"/>
            </a:solidFill>
            <a:prstDash val="solid"/>
          </a:ln>
          <a:effectLst>
            <a:outerShdw blurRad="76200" dist="25400" dir="5400000" algn="bl" rotWithShape="0">
              <a:srgbClr val="1E2761">
                <a:alpha val="8000"/>
              </a:srgbClr>
            </a:outerShdw>
          </a:effectLst>
        </p:spPr>
        <p:txBody>
          <a:bodyPr/>
          <a:lstStyle/>
          <a:p>
            <a:endParaRPr lang="es-CL"/>
          </a:p>
        </p:txBody>
      </p:sp>
      <p:sp>
        <p:nvSpPr>
          <p:cNvPr id="23" name="Shape 21"/>
          <p:cNvSpPr/>
          <p:nvPr/>
        </p:nvSpPr>
        <p:spPr>
          <a:xfrm>
            <a:off x="640080" y="4526280"/>
            <a:ext cx="82296" cy="868680"/>
          </a:xfrm>
          <a:prstGeom prst="rect">
            <a:avLst/>
          </a:prstGeom>
          <a:solidFill>
            <a:srgbClr val="D9A441"/>
          </a:solidFill>
          <a:ln/>
        </p:spPr>
        <p:txBody>
          <a:bodyPr/>
          <a:lstStyle/>
          <a:p>
            <a:endParaRPr lang="es-CL"/>
          </a:p>
        </p:txBody>
      </p:sp>
      <p:sp>
        <p:nvSpPr>
          <p:cNvPr id="24" name="Text 22"/>
          <p:cNvSpPr txBox="1"/>
          <p:nvPr/>
        </p:nvSpPr>
        <p:spPr>
          <a:xfrm>
            <a:off x="960120" y="4617720"/>
            <a:ext cx="4617720" cy="36576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Contenerización y orquestación</a:t>
            </a:r>
            <a:endParaRPr lang="en-US" sz="1450" dirty="0"/>
          </a:p>
        </p:txBody>
      </p:sp>
      <p:sp>
        <p:nvSpPr>
          <p:cNvPr id="25" name="Text 23"/>
          <p:cNvSpPr txBox="1"/>
          <p:nvPr/>
        </p:nvSpPr>
        <p:spPr>
          <a:xfrm>
            <a:off x="960120" y="4965192"/>
            <a:ext cx="4617720" cy="457200"/>
          </a:xfrm>
          <a:prstGeom prst="rect">
            <a:avLst/>
          </a:prstGeom>
          <a:noFill/>
          <a:ln/>
        </p:spPr>
        <p:txBody>
          <a:bodyPr wrap="square" lIns="0" tIns="0" rIns="0" bIns="0" rtlCol="0" anchor="ctr"/>
          <a:lstStyle/>
          <a:p>
            <a:pPr marL="0" indent="0">
              <a:lnSpc>
                <a:spcPct val="110000"/>
              </a:lnSpc>
              <a:buNone/>
            </a:pPr>
            <a:r>
              <a:rPr lang="en-US" sz="1250" dirty="0">
                <a:solidFill>
                  <a:srgbClr val="5B6472"/>
                </a:solidFill>
                <a:latin typeface="Calibri" pitchFamily="34" charset="0"/>
                <a:ea typeface="Calibri" pitchFamily="34" charset="-122"/>
                <a:cs typeface="Calibri" pitchFamily="34" charset="-120"/>
              </a:rPr>
              <a:t>Docker y Docker Compose</a:t>
            </a:r>
            <a:endParaRPr lang="en-US" sz="1250" dirty="0"/>
          </a:p>
        </p:txBody>
      </p:sp>
      <p:sp>
        <p:nvSpPr>
          <p:cNvPr id="26" name="Shape 24"/>
          <p:cNvSpPr/>
          <p:nvPr/>
        </p:nvSpPr>
        <p:spPr>
          <a:xfrm>
            <a:off x="6035040" y="4526280"/>
            <a:ext cx="5120640" cy="868680"/>
          </a:xfrm>
          <a:prstGeom prst="roundRect">
            <a:avLst>
              <a:gd name="adj" fmla="val 9474"/>
            </a:avLst>
          </a:prstGeom>
          <a:solidFill>
            <a:srgbClr val="FFFFFF"/>
          </a:solidFill>
          <a:ln w="12700">
            <a:solidFill>
              <a:srgbClr val="E2E7F2"/>
            </a:solidFill>
            <a:prstDash val="solid"/>
          </a:ln>
          <a:effectLst>
            <a:outerShdw blurRad="76200" dist="25400" dir="5400000" algn="bl" rotWithShape="0">
              <a:srgbClr val="1E2761">
                <a:alpha val="8000"/>
              </a:srgbClr>
            </a:outerShdw>
          </a:effectLst>
        </p:spPr>
        <p:txBody>
          <a:bodyPr/>
          <a:lstStyle/>
          <a:p>
            <a:endParaRPr lang="es-CL"/>
          </a:p>
        </p:txBody>
      </p:sp>
      <p:sp>
        <p:nvSpPr>
          <p:cNvPr id="27" name="Shape 25"/>
          <p:cNvSpPr/>
          <p:nvPr/>
        </p:nvSpPr>
        <p:spPr>
          <a:xfrm>
            <a:off x="6035040" y="4526280"/>
            <a:ext cx="82296" cy="868680"/>
          </a:xfrm>
          <a:prstGeom prst="rect">
            <a:avLst/>
          </a:prstGeom>
          <a:solidFill>
            <a:srgbClr val="D9A441"/>
          </a:solidFill>
          <a:ln/>
        </p:spPr>
        <p:txBody>
          <a:bodyPr/>
          <a:lstStyle/>
          <a:p>
            <a:endParaRPr lang="es-CL"/>
          </a:p>
        </p:txBody>
      </p:sp>
      <p:sp>
        <p:nvSpPr>
          <p:cNvPr id="28" name="Text 26"/>
          <p:cNvSpPr txBox="1"/>
          <p:nvPr/>
        </p:nvSpPr>
        <p:spPr>
          <a:xfrm>
            <a:off x="6355080" y="4617720"/>
            <a:ext cx="4617720" cy="36576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Entorno de correo (desarrollo)</a:t>
            </a:r>
            <a:endParaRPr lang="en-US" sz="1450" dirty="0"/>
          </a:p>
        </p:txBody>
      </p:sp>
      <p:sp>
        <p:nvSpPr>
          <p:cNvPr id="29" name="Text 27"/>
          <p:cNvSpPr txBox="1"/>
          <p:nvPr/>
        </p:nvSpPr>
        <p:spPr>
          <a:xfrm>
            <a:off x="6355080" y="4965192"/>
            <a:ext cx="4617720" cy="457200"/>
          </a:xfrm>
          <a:prstGeom prst="rect">
            <a:avLst/>
          </a:prstGeom>
          <a:noFill/>
          <a:ln/>
        </p:spPr>
        <p:txBody>
          <a:bodyPr wrap="square" lIns="0" tIns="0" rIns="0" bIns="0" rtlCol="0" anchor="ctr"/>
          <a:lstStyle/>
          <a:p>
            <a:pPr marL="0" indent="0">
              <a:lnSpc>
                <a:spcPct val="110000"/>
              </a:lnSpc>
              <a:buNone/>
            </a:pPr>
            <a:r>
              <a:rPr lang="en-US" sz="1250" dirty="0">
                <a:solidFill>
                  <a:srgbClr val="5B6472"/>
                </a:solidFill>
                <a:latin typeface="Calibri" pitchFamily="34" charset="0"/>
                <a:ea typeface="Calibri" pitchFamily="34" charset="-122"/>
                <a:cs typeface="Calibri" pitchFamily="34" charset="-120"/>
              </a:rPr>
              <a:t>Mailhog</a:t>
            </a:r>
            <a:endParaRPr lang="en-US" sz="1250" dirty="0"/>
          </a:p>
        </p:txBody>
      </p:sp>
      <p:sp>
        <p:nvSpPr>
          <p:cNvPr id="30" name="Text 2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ARQUITECTURA</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Arquitectura de la plataforma</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Shape 3"/>
          <p:cNvSpPr/>
          <p:nvPr/>
        </p:nvSpPr>
        <p:spPr>
          <a:xfrm>
            <a:off x="4677156" y="1783080"/>
            <a:ext cx="2834640" cy="777240"/>
          </a:xfrm>
          <a:prstGeom prst="roundRect">
            <a:avLst>
              <a:gd name="adj" fmla="val 10588"/>
            </a:avLst>
          </a:prstGeom>
          <a:solidFill>
            <a:srgbClr val="1E2761"/>
          </a:solidFill>
          <a:ln/>
          <a:effectLst>
            <a:outerShdw blurRad="76200" dist="25400" dir="5400000" algn="bl" rotWithShape="0">
              <a:srgbClr val="1E2761">
                <a:alpha val="12000"/>
              </a:srgbClr>
            </a:outerShdw>
          </a:effectLst>
        </p:spPr>
        <p:txBody>
          <a:bodyPr/>
          <a:lstStyle/>
          <a:p>
            <a:endParaRPr lang="es-CL"/>
          </a:p>
        </p:txBody>
      </p:sp>
      <p:sp>
        <p:nvSpPr>
          <p:cNvPr id="6" name="Text 4"/>
          <p:cNvSpPr txBox="1"/>
          <p:nvPr/>
        </p:nvSpPr>
        <p:spPr>
          <a:xfrm>
            <a:off x="4814316" y="1856232"/>
            <a:ext cx="256032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Frontend</a:t>
            </a:r>
            <a:endParaRPr lang="en-US" sz="1400" dirty="0"/>
          </a:p>
        </p:txBody>
      </p:sp>
      <p:sp>
        <p:nvSpPr>
          <p:cNvPr id="7" name="Text 5"/>
          <p:cNvSpPr txBox="1"/>
          <p:nvPr/>
        </p:nvSpPr>
        <p:spPr>
          <a:xfrm>
            <a:off x="4814316" y="2203704"/>
            <a:ext cx="2560320" cy="3200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React + Vite</a:t>
            </a:r>
            <a:endParaRPr lang="en-US" sz="1050" dirty="0"/>
          </a:p>
        </p:txBody>
      </p:sp>
      <p:sp>
        <p:nvSpPr>
          <p:cNvPr id="8" name="Shape 6"/>
          <p:cNvSpPr/>
          <p:nvPr/>
        </p:nvSpPr>
        <p:spPr>
          <a:xfrm>
            <a:off x="6094476" y="2560320"/>
            <a:ext cx="0" cy="320040"/>
          </a:xfrm>
          <a:prstGeom prst="line">
            <a:avLst/>
          </a:prstGeom>
          <a:noFill/>
          <a:ln w="22225">
            <a:solidFill>
              <a:srgbClr val="5B6472"/>
            </a:solidFill>
            <a:prstDash val="solid"/>
            <a:tailEnd type="triangle"/>
          </a:ln>
        </p:spPr>
        <p:txBody>
          <a:bodyPr/>
          <a:lstStyle/>
          <a:p>
            <a:endParaRPr lang="es-CL"/>
          </a:p>
        </p:txBody>
      </p:sp>
      <p:sp>
        <p:nvSpPr>
          <p:cNvPr id="9" name="Shape 7"/>
          <p:cNvSpPr/>
          <p:nvPr/>
        </p:nvSpPr>
        <p:spPr>
          <a:xfrm>
            <a:off x="4677156" y="2880360"/>
            <a:ext cx="2834640" cy="777240"/>
          </a:xfrm>
          <a:prstGeom prst="roundRect">
            <a:avLst>
              <a:gd name="adj" fmla="val 10588"/>
            </a:avLst>
          </a:prstGeom>
          <a:solidFill>
            <a:srgbClr val="2B3782"/>
          </a:solidFill>
          <a:ln/>
          <a:effectLst>
            <a:outerShdw blurRad="76200" dist="25400" dir="5400000" algn="bl" rotWithShape="0">
              <a:srgbClr val="1E2761">
                <a:alpha val="12000"/>
              </a:srgbClr>
            </a:outerShdw>
          </a:effectLst>
        </p:spPr>
        <p:txBody>
          <a:bodyPr/>
          <a:lstStyle/>
          <a:p>
            <a:endParaRPr lang="es-CL"/>
          </a:p>
        </p:txBody>
      </p:sp>
      <p:sp>
        <p:nvSpPr>
          <p:cNvPr id="10" name="Text 8"/>
          <p:cNvSpPr txBox="1"/>
          <p:nvPr/>
        </p:nvSpPr>
        <p:spPr>
          <a:xfrm>
            <a:off x="4814316" y="2953512"/>
            <a:ext cx="256032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Backend API</a:t>
            </a:r>
            <a:endParaRPr lang="en-US" sz="1400" dirty="0"/>
          </a:p>
        </p:txBody>
      </p:sp>
      <p:sp>
        <p:nvSpPr>
          <p:cNvPr id="11" name="Text 9"/>
          <p:cNvSpPr txBox="1"/>
          <p:nvPr/>
        </p:nvSpPr>
        <p:spPr>
          <a:xfrm>
            <a:off x="4814316" y="3300984"/>
            <a:ext cx="2560320" cy="3200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FastAPI (Python)</a:t>
            </a:r>
            <a:endParaRPr lang="en-US" sz="1050" dirty="0"/>
          </a:p>
        </p:txBody>
      </p:sp>
      <p:sp>
        <p:nvSpPr>
          <p:cNvPr id="12" name="Shape 10"/>
          <p:cNvSpPr/>
          <p:nvPr/>
        </p:nvSpPr>
        <p:spPr>
          <a:xfrm flipH="1">
            <a:off x="3337560" y="3657600"/>
            <a:ext cx="2208276" cy="502920"/>
          </a:xfrm>
          <a:prstGeom prst="line">
            <a:avLst/>
          </a:prstGeom>
          <a:noFill/>
          <a:ln w="22225">
            <a:solidFill>
              <a:srgbClr val="5B6472"/>
            </a:solidFill>
            <a:prstDash val="solid"/>
            <a:tailEnd type="triangle"/>
          </a:ln>
        </p:spPr>
        <p:txBody>
          <a:bodyPr/>
          <a:lstStyle/>
          <a:p>
            <a:endParaRPr lang="es-CL"/>
          </a:p>
        </p:txBody>
      </p:sp>
      <p:sp>
        <p:nvSpPr>
          <p:cNvPr id="13" name="Shape 11"/>
          <p:cNvSpPr/>
          <p:nvPr/>
        </p:nvSpPr>
        <p:spPr>
          <a:xfrm>
            <a:off x="6643116" y="3657600"/>
            <a:ext cx="2208276" cy="502920"/>
          </a:xfrm>
          <a:prstGeom prst="line">
            <a:avLst/>
          </a:prstGeom>
          <a:noFill/>
          <a:ln w="22225">
            <a:solidFill>
              <a:srgbClr val="5B6472"/>
            </a:solidFill>
            <a:prstDash val="solid"/>
            <a:tailEnd type="triangle"/>
          </a:ln>
        </p:spPr>
        <p:txBody>
          <a:bodyPr/>
          <a:lstStyle/>
          <a:p>
            <a:endParaRPr lang="es-CL"/>
          </a:p>
        </p:txBody>
      </p:sp>
      <p:sp>
        <p:nvSpPr>
          <p:cNvPr id="14" name="Shape 12"/>
          <p:cNvSpPr/>
          <p:nvPr/>
        </p:nvSpPr>
        <p:spPr>
          <a:xfrm>
            <a:off x="1920240" y="4160520"/>
            <a:ext cx="2834640" cy="777240"/>
          </a:xfrm>
          <a:prstGeom prst="roundRect">
            <a:avLst>
              <a:gd name="adj" fmla="val 10588"/>
            </a:avLst>
          </a:prstGeom>
          <a:solidFill>
            <a:srgbClr val="D9A441"/>
          </a:solidFill>
          <a:ln/>
          <a:effectLst>
            <a:outerShdw blurRad="76200" dist="25400" dir="5400000" algn="bl" rotWithShape="0">
              <a:srgbClr val="1E2761">
                <a:alpha val="12000"/>
              </a:srgbClr>
            </a:outerShdw>
          </a:effectLst>
        </p:spPr>
        <p:txBody>
          <a:bodyPr/>
          <a:lstStyle/>
          <a:p>
            <a:endParaRPr lang="es-CL"/>
          </a:p>
        </p:txBody>
      </p:sp>
      <p:sp>
        <p:nvSpPr>
          <p:cNvPr id="15" name="Text 13"/>
          <p:cNvSpPr txBox="1"/>
          <p:nvPr/>
        </p:nvSpPr>
        <p:spPr>
          <a:xfrm>
            <a:off x="2057400" y="4233672"/>
            <a:ext cx="256032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PostgreSQL + pgvector</a:t>
            </a:r>
            <a:endParaRPr lang="en-US" sz="1400" dirty="0"/>
          </a:p>
        </p:txBody>
      </p:sp>
      <p:sp>
        <p:nvSpPr>
          <p:cNvPr id="16" name="Text 14"/>
          <p:cNvSpPr txBox="1"/>
          <p:nvPr/>
        </p:nvSpPr>
        <p:spPr>
          <a:xfrm>
            <a:off x="2057400" y="4581144"/>
            <a:ext cx="2560320" cy="3200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Persistencia de datos</a:t>
            </a:r>
            <a:endParaRPr lang="en-US" sz="1050" dirty="0"/>
          </a:p>
        </p:txBody>
      </p:sp>
      <p:sp>
        <p:nvSpPr>
          <p:cNvPr id="17" name="Shape 15"/>
          <p:cNvSpPr/>
          <p:nvPr/>
        </p:nvSpPr>
        <p:spPr>
          <a:xfrm>
            <a:off x="7434072" y="4160520"/>
            <a:ext cx="2834640" cy="777240"/>
          </a:xfrm>
          <a:prstGeom prst="roundRect">
            <a:avLst>
              <a:gd name="adj" fmla="val 10588"/>
            </a:avLst>
          </a:prstGeom>
          <a:solidFill>
            <a:srgbClr val="D9A441"/>
          </a:solidFill>
          <a:ln/>
          <a:effectLst>
            <a:outerShdw blurRad="76200" dist="25400" dir="5400000" algn="bl" rotWithShape="0">
              <a:srgbClr val="1E2761">
                <a:alpha val="12000"/>
              </a:srgbClr>
            </a:outerShdw>
          </a:effectLst>
        </p:spPr>
        <p:txBody>
          <a:bodyPr/>
          <a:lstStyle/>
          <a:p>
            <a:endParaRPr lang="es-CL"/>
          </a:p>
        </p:txBody>
      </p:sp>
      <p:sp>
        <p:nvSpPr>
          <p:cNvPr id="18" name="Text 16"/>
          <p:cNvSpPr txBox="1"/>
          <p:nvPr/>
        </p:nvSpPr>
        <p:spPr>
          <a:xfrm>
            <a:off x="7571232" y="4233672"/>
            <a:ext cx="2560320" cy="36576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Redis + Celery Workers</a:t>
            </a:r>
            <a:endParaRPr lang="en-US" sz="1400" dirty="0"/>
          </a:p>
        </p:txBody>
      </p:sp>
      <p:sp>
        <p:nvSpPr>
          <p:cNvPr id="19" name="Text 17"/>
          <p:cNvSpPr txBox="1"/>
          <p:nvPr/>
        </p:nvSpPr>
        <p:spPr>
          <a:xfrm>
            <a:off x="7571232" y="4581144"/>
            <a:ext cx="2560320" cy="3200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Tareas asíncronas / broker</a:t>
            </a:r>
            <a:endParaRPr lang="en-US" sz="1050" dirty="0"/>
          </a:p>
        </p:txBody>
      </p:sp>
      <p:sp>
        <p:nvSpPr>
          <p:cNvPr id="20" name="Shape 18"/>
          <p:cNvSpPr/>
          <p:nvPr/>
        </p:nvSpPr>
        <p:spPr>
          <a:xfrm>
            <a:off x="640080" y="5394960"/>
            <a:ext cx="10515600" cy="868680"/>
          </a:xfrm>
          <a:prstGeom prst="roundRect">
            <a:avLst>
              <a:gd name="adj" fmla="val 10526"/>
            </a:avLst>
          </a:prstGeom>
          <a:solidFill>
            <a:srgbClr val="F5F7FC"/>
          </a:solidFill>
          <a:ln w="12700">
            <a:solidFill>
              <a:srgbClr val="E2E7F2"/>
            </a:solidFill>
            <a:prstDash val="solid"/>
          </a:ln>
        </p:spPr>
        <p:txBody>
          <a:bodyPr/>
          <a:lstStyle/>
          <a:p>
            <a:endParaRPr lang="es-CL"/>
          </a:p>
        </p:txBody>
      </p:sp>
      <p:sp>
        <p:nvSpPr>
          <p:cNvPr id="21" name="Text 19"/>
          <p:cNvSpPr txBox="1"/>
          <p:nvPr/>
        </p:nvSpPr>
        <p:spPr>
          <a:xfrm>
            <a:off x="914400" y="5486400"/>
            <a:ext cx="3657600" cy="274320"/>
          </a:xfrm>
          <a:prstGeom prst="rect">
            <a:avLst/>
          </a:prstGeom>
          <a:noFill/>
          <a:ln/>
        </p:spPr>
        <p:txBody>
          <a:bodyPr wrap="square" lIns="0" tIns="0" rIns="0" bIns="0" rtlCol="0" anchor="ctr"/>
          <a:lstStyle/>
          <a:p>
            <a:pPr marL="0" indent="0">
              <a:buNone/>
            </a:pPr>
            <a:r>
              <a:rPr lang="en-US" sz="1050" b="1" kern="0" spc="100" dirty="0">
                <a:solidFill>
                  <a:srgbClr val="D9A441"/>
                </a:solidFill>
                <a:latin typeface="Calibri" pitchFamily="34" charset="0"/>
                <a:ea typeface="Calibri" pitchFamily="34" charset="-122"/>
                <a:cs typeface="Calibri" pitchFamily="34" charset="-120"/>
              </a:rPr>
              <a:t>VALIDACIÓN DE DOCUMENTOS CON IA</a:t>
            </a:r>
            <a:endParaRPr lang="en-US" sz="1050" dirty="0"/>
          </a:p>
        </p:txBody>
      </p:sp>
      <p:sp>
        <p:nvSpPr>
          <p:cNvPr id="22" name="Text 20"/>
          <p:cNvSpPr txBox="1"/>
          <p:nvPr/>
        </p:nvSpPr>
        <p:spPr>
          <a:xfrm>
            <a:off x="914400" y="5742432"/>
            <a:ext cx="9966960" cy="457200"/>
          </a:xfrm>
          <a:prstGeom prst="rect">
            <a:avLst/>
          </a:prstGeom>
          <a:noFill/>
          <a:ln/>
        </p:spPr>
        <p:txBody>
          <a:bodyPr wrap="square" lIns="0" tIns="0" rIns="0" bIns="0" rtlCol="0" anchor="ctr"/>
          <a:lstStyle/>
          <a:p>
            <a:pPr marL="0" indent="0">
              <a:lnSpc>
                <a:spcPct val="115000"/>
              </a:lnSpc>
              <a:buNone/>
            </a:pPr>
            <a:r>
              <a:rPr lang="en-US" sz="1200" dirty="0">
                <a:solidFill>
                  <a:srgbClr val="1F2430"/>
                </a:solidFill>
                <a:latin typeface="Calibri" pitchFamily="34" charset="0"/>
                <a:ea typeface="Calibri" pitchFamily="34" charset="-122"/>
                <a:cs typeface="Calibri" pitchFamily="34" charset="-120"/>
              </a:rPr>
              <a:t>Backend, celery-worker y celery-beat comparten un volumen dedicado para los trabajos de validación de documentos con IA.</a:t>
            </a:r>
            <a:endParaRPr lang="en-US" sz="1200" dirty="0"/>
          </a:p>
        </p:txBody>
      </p:sp>
      <p:sp>
        <p:nvSpPr>
          <p:cNvPr id="23" name="Text 21"/>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286000" y="3657600"/>
            <a:ext cx="5486400" cy="5486400"/>
          </a:xfrm>
          <a:prstGeom prst="ellipse">
            <a:avLst/>
          </a:prstGeom>
          <a:solidFill>
            <a:srgbClr val="263275"/>
          </a:solidFill>
          <a:ln/>
        </p:spPr>
        <p:txBody>
          <a:bodyPr/>
          <a:lstStyle/>
          <a:p>
            <a:endParaRPr lang="es-CL"/>
          </a:p>
        </p:txBody>
      </p:sp>
      <p:sp>
        <p:nvSpPr>
          <p:cNvPr id="3" name="Text 1"/>
          <p:cNvSpPr txBox="1"/>
          <p:nvPr/>
        </p:nvSpPr>
        <p:spPr>
          <a:xfrm>
            <a:off x="914400" y="1463040"/>
            <a:ext cx="7315200" cy="365760"/>
          </a:xfrm>
          <a:prstGeom prst="rect">
            <a:avLst/>
          </a:prstGeom>
          <a:noFill/>
          <a:ln/>
        </p:spPr>
        <p:txBody>
          <a:bodyPr wrap="square" lIns="0" tIns="0" rIns="0" bIns="0"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OBJETIVO GENERAL</a:t>
            </a:r>
            <a:endParaRPr lang="en-US" sz="1300" dirty="0"/>
          </a:p>
        </p:txBody>
      </p:sp>
      <p:sp>
        <p:nvSpPr>
          <p:cNvPr id="4" name="Text 2"/>
          <p:cNvSpPr txBox="1"/>
          <p:nvPr/>
        </p:nvSpPr>
        <p:spPr>
          <a:xfrm>
            <a:off x="914400" y="1965960"/>
            <a:ext cx="9875520" cy="2377440"/>
          </a:xfrm>
          <a:prstGeom prst="rect">
            <a:avLst/>
          </a:prstGeom>
          <a:noFill/>
          <a:ln/>
        </p:spPr>
        <p:txBody>
          <a:bodyPr wrap="square" lIns="0" tIns="0" rIns="0" bIns="0" rtlCol="0" anchor="ctr"/>
          <a:lstStyle/>
          <a:p>
            <a:pPr marL="0" indent="0">
              <a:lnSpc>
                <a:spcPct val="130000"/>
              </a:lnSpc>
              <a:buNone/>
            </a:pPr>
            <a:r>
              <a:rPr lang="en-US" sz="2600" b="1" dirty="0">
                <a:solidFill>
                  <a:srgbClr val="FFFFFF"/>
                </a:solidFill>
                <a:latin typeface="Cambria" pitchFamily="34" charset="0"/>
                <a:ea typeface="Cambria" pitchFamily="34" charset="-122"/>
                <a:cs typeface="Cambria" pitchFamily="34" charset="-120"/>
              </a:rPr>
              <a:t>Implementar en el software existente de Alloxentric las funcionalidades necesarias para incorporar la gestión de ISO 42001, reutilizando y adaptando la solución actualmente usada para ISO 27001, y manteniendo los estándares técnicos definidos por la empresa.</a:t>
            </a:r>
            <a:endParaRPr lang="en-US" sz="2600" dirty="0"/>
          </a:p>
        </p:txBody>
      </p:sp>
      <p:sp>
        <p:nvSpPr>
          <p:cNvPr id="5" name="Shape 3"/>
          <p:cNvSpPr/>
          <p:nvPr/>
        </p:nvSpPr>
        <p:spPr>
          <a:xfrm>
            <a:off x="914400" y="4846320"/>
            <a:ext cx="548640" cy="45720"/>
          </a:xfrm>
          <a:prstGeom prst="rect">
            <a:avLst/>
          </a:prstGeom>
          <a:solidFill>
            <a:srgbClr val="D9A441"/>
          </a:solidFill>
          <a:ln/>
        </p:spPr>
        <p:txBody>
          <a:bodyPr/>
          <a:lstStyle/>
          <a:p>
            <a:endParaRPr lang="es-CL"/>
          </a:p>
        </p:txBody>
      </p:sp>
      <p:sp>
        <p:nvSpPr>
          <p:cNvPr id="6" name="Text 4"/>
          <p:cNvSpPr txBox="1"/>
          <p:nvPr/>
        </p:nvSpPr>
        <p:spPr>
          <a:xfrm>
            <a:off x="914400" y="5029200"/>
            <a:ext cx="8229600" cy="45720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Reutilizar antes que reconstruir: la base ya existe.</a:t>
            </a:r>
            <a:endParaRPr lang="en-US" sz="1400" dirty="0"/>
          </a:p>
        </p:txBody>
      </p:sp>
      <p:sp>
        <p:nvSpPr>
          <p:cNvPr id="7" name="Text 5"/>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OBJETIVOS</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Objetivos específicos</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Shape 3"/>
          <p:cNvSpPr/>
          <p:nvPr/>
        </p:nvSpPr>
        <p:spPr>
          <a:xfrm>
            <a:off x="640080" y="1828800"/>
            <a:ext cx="502920" cy="502920"/>
          </a:xfrm>
          <a:prstGeom prst="ellipse">
            <a:avLst/>
          </a:prstGeom>
          <a:solidFill>
            <a:srgbClr val="1E2761"/>
          </a:solidFill>
          <a:ln/>
        </p:spPr>
        <p:txBody>
          <a:bodyPr/>
          <a:lstStyle/>
          <a:p>
            <a:endParaRPr lang="es-CL"/>
          </a:p>
        </p:txBody>
      </p:sp>
      <p:sp>
        <p:nvSpPr>
          <p:cNvPr id="6" name="Text 4"/>
          <p:cNvSpPr txBox="1"/>
          <p:nvPr/>
        </p:nvSpPr>
        <p:spPr>
          <a:xfrm>
            <a:off x="640080" y="1828800"/>
            <a:ext cx="502920" cy="502920"/>
          </a:xfrm>
          <a:prstGeom prst="rect">
            <a:avLst/>
          </a:prstGeom>
          <a:noFill/>
          <a:ln/>
        </p:spPr>
        <p:txBody>
          <a:bodyPr wrap="square" lIns="0" tIns="0" rIns="0" bIns="0" rtlCol="0" anchor="ctr"/>
          <a:lstStyle/>
          <a:p>
            <a:pPr marL="0" indent="0" algn="ctr">
              <a:buNone/>
            </a:pPr>
            <a:r>
              <a:rPr lang="en-US" sz="1800" b="1" dirty="0">
                <a:solidFill>
                  <a:srgbClr val="D9A441"/>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71600" y="1792224"/>
            <a:ext cx="9784080" cy="704088"/>
          </a:xfrm>
          <a:prstGeom prst="rect">
            <a:avLst/>
          </a:prstGeom>
          <a:noFill/>
          <a:ln/>
        </p:spPr>
        <p:txBody>
          <a:bodyPr wrap="square" lIns="0" tIns="0" rIns="0" bIns="0" rtlCol="0" anchor="ctr"/>
          <a:lstStyle/>
          <a:p>
            <a:pPr marL="0" indent="0">
              <a:lnSpc>
                <a:spcPct val="115000"/>
              </a:lnSpc>
              <a:buNone/>
            </a:pPr>
            <a:r>
              <a:rPr lang="en-US" sz="1400" dirty="0">
                <a:solidFill>
                  <a:srgbClr val="1F2430"/>
                </a:solidFill>
                <a:latin typeface="Calibri" pitchFamily="34" charset="0"/>
                <a:ea typeface="Calibri" pitchFamily="34" charset="-122"/>
                <a:cs typeface="Calibri" pitchFamily="34" charset="-120"/>
              </a:rPr>
              <a:t>Analizar la estructura y el funcionamiento actual del software de ISO 27001, identificando componentes reutilizables o adaptables.</a:t>
            </a:r>
            <a:endParaRPr lang="en-US" sz="1400" dirty="0"/>
          </a:p>
        </p:txBody>
      </p:sp>
      <p:sp>
        <p:nvSpPr>
          <p:cNvPr id="8" name="Shape 6"/>
          <p:cNvSpPr/>
          <p:nvPr/>
        </p:nvSpPr>
        <p:spPr>
          <a:xfrm>
            <a:off x="1371600" y="2532888"/>
            <a:ext cx="9784080" cy="0"/>
          </a:xfrm>
          <a:prstGeom prst="line">
            <a:avLst/>
          </a:prstGeom>
          <a:noFill/>
          <a:ln w="12700">
            <a:solidFill>
              <a:srgbClr val="E2E7F2"/>
            </a:solidFill>
            <a:prstDash val="solid"/>
          </a:ln>
        </p:spPr>
        <p:txBody>
          <a:bodyPr/>
          <a:lstStyle/>
          <a:p>
            <a:endParaRPr lang="es-CL"/>
          </a:p>
        </p:txBody>
      </p:sp>
      <p:sp>
        <p:nvSpPr>
          <p:cNvPr id="9" name="Shape 7"/>
          <p:cNvSpPr/>
          <p:nvPr/>
        </p:nvSpPr>
        <p:spPr>
          <a:xfrm>
            <a:off x="640080" y="2670048"/>
            <a:ext cx="502920" cy="502920"/>
          </a:xfrm>
          <a:prstGeom prst="ellipse">
            <a:avLst/>
          </a:prstGeom>
          <a:solidFill>
            <a:srgbClr val="1E2761"/>
          </a:solidFill>
          <a:ln/>
        </p:spPr>
        <p:txBody>
          <a:bodyPr/>
          <a:lstStyle/>
          <a:p>
            <a:endParaRPr lang="es-CL"/>
          </a:p>
        </p:txBody>
      </p:sp>
      <p:sp>
        <p:nvSpPr>
          <p:cNvPr id="10" name="Text 8"/>
          <p:cNvSpPr txBox="1"/>
          <p:nvPr/>
        </p:nvSpPr>
        <p:spPr>
          <a:xfrm>
            <a:off x="640080" y="2670048"/>
            <a:ext cx="502920" cy="502920"/>
          </a:xfrm>
          <a:prstGeom prst="rect">
            <a:avLst/>
          </a:prstGeom>
          <a:noFill/>
          <a:ln/>
        </p:spPr>
        <p:txBody>
          <a:bodyPr wrap="square" lIns="0" tIns="0" rIns="0" bIns="0" rtlCol="0" anchor="ctr"/>
          <a:lstStyle/>
          <a:p>
            <a:pPr marL="0" indent="0" algn="ctr">
              <a:buNone/>
            </a:pPr>
            <a:r>
              <a:rPr lang="en-US" sz="1800" b="1" dirty="0">
                <a:solidFill>
                  <a:srgbClr val="D9A441"/>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371600" y="2633472"/>
            <a:ext cx="9784080" cy="704088"/>
          </a:xfrm>
          <a:prstGeom prst="rect">
            <a:avLst/>
          </a:prstGeom>
          <a:noFill/>
          <a:ln/>
        </p:spPr>
        <p:txBody>
          <a:bodyPr wrap="square" lIns="0" tIns="0" rIns="0" bIns="0" rtlCol="0" anchor="ctr"/>
          <a:lstStyle/>
          <a:p>
            <a:pPr marL="0" indent="0">
              <a:lnSpc>
                <a:spcPct val="115000"/>
              </a:lnSpc>
              <a:buNone/>
            </a:pPr>
            <a:r>
              <a:rPr lang="en-US" sz="1400" dirty="0">
                <a:solidFill>
                  <a:srgbClr val="1F2430"/>
                </a:solidFill>
                <a:latin typeface="Calibri" pitchFamily="34" charset="0"/>
                <a:ea typeface="Calibri" pitchFamily="34" charset="-122"/>
                <a:cs typeface="Calibri" pitchFamily="34" charset="-120"/>
              </a:rPr>
              <a:t>Identificar y definir los requerimientos necesarios para incorporar la gestión de ISO 42001 en la plataforma existente.</a:t>
            </a:r>
            <a:endParaRPr lang="en-US" sz="1400" dirty="0"/>
          </a:p>
        </p:txBody>
      </p:sp>
      <p:sp>
        <p:nvSpPr>
          <p:cNvPr id="12" name="Shape 10"/>
          <p:cNvSpPr/>
          <p:nvPr/>
        </p:nvSpPr>
        <p:spPr>
          <a:xfrm>
            <a:off x="1371600" y="3374136"/>
            <a:ext cx="9784080" cy="0"/>
          </a:xfrm>
          <a:prstGeom prst="line">
            <a:avLst/>
          </a:prstGeom>
          <a:noFill/>
          <a:ln w="12700">
            <a:solidFill>
              <a:srgbClr val="E2E7F2"/>
            </a:solidFill>
            <a:prstDash val="solid"/>
          </a:ln>
        </p:spPr>
        <p:txBody>
          <a:bodyPr/>
          <a:lstStyle/>
          <a:p>
            <a:endParaRPr lang="es-CL"/>
          </a:p>
        </p:txBody>
      </p:sp>
      <p:sp>
        <p:nvSpPr>
          <p:cNvPr id="13" name="Shape 11"/>
          <p:cNvSpPr/>
          <p:nvPr/>
        </p:nvSpPr>
        <p:spPr>
          <a:xfrm>
            <a:off x="640080" y="3511296"/>
            <a:ext cx="502920" cy="502920"/>
          </a:xfrm>
          <a:prstGeom prst="ellipse">
            <a:avLst/>
          </a:prstGeom>
          <a:solidFill>
            <a:srgbClr val="1E2761"/>
          </a:solidFill>
          <a:ln/>
        </p:spPr>
        <p:txBody>
          <a:bodyPr/>
          <a:lstStyle/>
          <a:p>
            <a:endParaRPr lang="es-CL"/>
          </a:p>
        </p:txBody>
      </p:sp>
      <p:sp>
        <p:nvSpPr>
          <p:cNvPr id="14" name="Text 12"/>
          <p:cNvSpPr txBox="1"/>
          <p:nvPr/>
        </p:nvSpPr>
        <p:spPr>
          <a:xfrm>
            <a:off x="640080" y="3511296"/>
            <a:ext cx="502920" cy="502920"/>
          </a:xfrm>
          <a:prstGeom prst="rect">
            <a:avLst/>
          </a:prstGeom>
          <a:noFill/>
          <a:ln/>
        </p:spPr>
        <p:txBody>
          <a:bodyPr wrap="square" lIns="0" tIns="0" rIns="0" bIns="0" rtlCol="0" anchor="ctr"/>
          <a:lstStyle/>
          <a:p>
            <a:pPr marL="0" indent="0" algn="ctr">
              <a:buNone/>
            </a:pPr>
            <a:r>
              <a:rPr lang="en-US" sz="1800" b="1" dirty="0">
                <a:solidFill>
                  <a:srgbClr val="D9A441"/>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1371600" y="3474720"/>
            <a:ext cx="9784080" cy="704088"/>
          </a:xfrm>
          <a:prstGeom prst="rect">
            <a:avLst/>
          </a:prstGeom>
          <a:noFill/>
          <a:ln/>
        </p:spPr>
        <p:txBody>
          <a:bodyPr wrap="square" lIns="0" tIns="0" rIns="0" bIns="0" rtlCol="0" anchor="ctr"/>
          <a:lstStyle/>
          <a:p>
            <a:pPr marL="0" indent="0">
              <a:lnSpc>
                <a:spcPct val="115000"/>
              </a:lnSpc>
              <a:buNone/>
            </a:pPr>
            <a:r>
              <a:rPr lang="en-US" sz="1400" dirty="0">
                <a:solidFill>
                  <a:srgbClr val="1F2430"/>
                </a:solidFill>
                <a:latin typeface="Calibri" pitchFamily="34" charset="0"/>
                <a:ea typeface="Calibri" pitchFamily="34" charset="-122"/>
                <a:cs typeface="Calibri" pitchFamily="34" charset="-120"/>
              </a:rPr>
              <a:t>Diseñar y desarrollar las funcionalidades necesarias, manteniendo la arquitectura y estándares técnicos de Alloxentric.</a:t>
            </a:r>
            <a:endParaRPr lang="en-US" sz="1400" dirty="0"/>
          </a:p>
        </p:txBody>
      </p:sp>
      <p:sp>
        <p:nvSpPr>
          <p:cNvPr id="16" name="Shape 14"/>
          <p:cNvSpPr/>
          <p:nvPr/>
        </p:nvSpPr>
        <p:spPr>
          <a:xfrm>
            <a:off x="1371600" y="4215384"/>
            <a:ext cx="9784080" cy="0"/>
          </a:xfrm>
          <a:prstGeom prst="line">
            <a:avLst/>
          </a:prstGeom>
          <a:noFill/>
          <a:ln w="12700">
            <a:solidFill>
              <a:srgbClr val="E2E7F2"/>
            </a:solidFill>
            <a:prstDash val="solid"/>
          </a:ln>
        </p:spPr>
        <p:txBody>
          <a:bodyPr/>
          <a:lstStyle/>
          <a:p>
            <a:endParaRPr lang="es-CL"/>
          </a:p>
        </p:txBody>
      </p:sp>
      <p:sp>
        <p:nvSpPr>
          <p:cNvPr id="17" name="Shape 15"/>
          <p:cNvSpPr/>
          <p:nvPr/>
        </p:nvSpPr>
        <p:spPr>
          <a:xfrm>
            <a:off x="640080" y="4352544"/>
            <a:ext cx="502920" cy="502920"/>
          </a:xfrm>
          <a:prstGeom prst="ellipse">
            <a:avLst/>
          </a:prstGeom>
          <a:solidFill>
            <a:srgbClr val="1E2761"/>
          </a:solidFill>
          <a:ln/>
        </p:spPr>
        <p:txBody>
          <a:bodyPr/>
          <a:lstStyle/>
          <a:p>
            <a:endParaRPr lang="es-CL"/>
          </a:p>
        </p:txBody>
      </p:sp>
      <p:sp>
        <p:nvSpPr>
          <p:cNvPr id="18" name="Text 16"/>
          <p:cNvSpPr txBox="1"/>
          <p:nvPr/>
        </p:nvSpPr>
        <p:spPr>
          <a:xfrm>
            <a:off x="640080" y="4352544"/>
            <a:ext cx="502920" cy="502920"/>
          </a:xfrm>
          <a:prstGeom prst="rect">
            <a:avLst/>
          </a:prstGeom>
          <a:noFill/>
          <a:ln/>
        </p:spPr>
        <p:txBody>
          <a:bodyPr wrap="square" lIns="0" tIns="0" rIns="0" bIns="0" rtlCol="0" anchor="ctr"/>
          <a:lstStyle/>
          <a:p>
            <a:pPr marL="0" indent="0" algn="ctr">
              <a:buNone/>
            </a:pPr>
            <a:r>
              <a:rPr lang="en-US" sz="1800" b="1" dirty="0">
                <a:solidFill>
                  <a:srgbClr val="D9A441"/>
                </a:solidFill>
                <a:latin typeface="Cambria" pitchFamily="34" charset="0"/>
                <a:ea typeface="Cambria" pitchFamily="34" charset="-122"/>
                <a:cs typeface="Cambria" pitchFamily="34" charset="-120"/>
              </a:rPr>
              <a:t>4</a:t>
            </a:r>
            <a:endParaRPr lang="en-US" sz="1800" dirty="0"/>
          </a:p>
        </p:txBody>
      </p:sp>
      <p:sp>
        <p:nvSpPr>
          <p:cNvPr id="19" name="Text 17"/>
          <p:cNvSpPr txBox="1"/>
          <p:nvPr/>
        </p:nvSpPr>
        <p:spPr>
          <a:xfrm>
            <a:off x="1371600" y="4315968"/>
            <a:ext cx="9784080" cy="704088"/>
          </a:xfrm>
          <a:prstGeom prst="rect">
            <a:avLst/>
          </a:prstGeom>
          <a:noFill/>
          <a:ln/>
        </p:spPr>
        <p:txBody>
          <a:bodyPr wrap="square" lIns="0" tIns="0" rIns="0" bIns="0" rtlCol="0" anchor="ctr"/>
          <a:lstStyle/>
          <a:p>
            <a:pPr marL="0" indent="0">
              <a:lnSpc>
                <a:spcPct val="115000"/>
              </a:lnSpc>
              <a:buNone/>
            </a:pPr>
            <a:r>
              <a:rPr lang="en-US" sz="1400" dirty="0">
                <a:solidFill>
                  <a:srgbClr val="1F2430"/>
                </a:solidFill>
                <a:latin typeface="Calibri" pitchFamily="34" charset="0"/>
                <a:ea typeface="Calibri" pitchFamily="34" charset="-122"/>
                <a:cs typeface="Calibri" pitchFamily="34" charset="-120"/>
              </a:rPr>
              <a:t>Integrar las nuevas funcionalidades con los componentes existentes, procurando mantener la operación de ISO 27001.</a:t>
            </a:r>
            <a:endParaRPr lang="en-US" sz="1400" dirty="0"/>
          </a:p>
        </p:txBody>
      </p:sp>
      <p:sp>
        <p:nvSpPr>
          <p:cNvPr id="20" name="Shape 18"/>
          <p:cNvSpPr/>
          <p:nvPr/>
        </p:nvSpPr>
        <p:spPr>
          <a:xfrm>
            <a:off x="1371600" y="5056632"/>
            <a:ext cx="9784080" cy="0"/>
          </a:xfrm>
          <a:prstGeom prst="line">
            <a:avLst/>
          </a:prstGeom>
          <a:noFill/>
          <a:ln w="12700">
            <a:solidFill>
              <a:srgbClr val="E2E7F2"/>
            </a:solidFill>
            <a:prstDash val="solid"/>
          </a:ln>
        </p:spPr>
        <p:txBody>
          <a:bodyPr/>
          <a:lstStyle/>
          <a:p>
            <a:endParaRPr lang="es-CL"/>
          </a:p>
        </p:txBody>
      </p:sp>
      <p:sp>
        <p:nvSpPr>
          <p:cNvPr id="21" name="Shape 19"/>
          <p:cNvSpPr/>
          <p:nvPr/>
        </p:nvSpPr>
        <p:spPr>
          <a:xfrm>
            <a:off x="640080" y="5193792"/>
            <a:ext cx="502920" cy="502920"/>
          </a:xfrm>
          <a:prstGeom prst="ellipse">
            <a:avLst/>
          </a:prstGeom>
          <a:solidFill>
            <a:srgbClr val="1E2761"/>
          </a:solidFill>
          <a:ln/>
        </p:spPr>
        <p:txBody>
          <a:bodyPr/>
          <a:lstStyle/>
          <a:p>
            <a:endParaRPr lang="es-CL"/>
          </a:p>
        </p:txBody>
      </p:sp>
      <p:sp>
        <p:nvSpPr>
          <p:cNvPr id="22" name="Text 20"/>
          <p:cNvSpPr txBox="1"/>
          <p:nvPr/>
        </p:nvSpPr>
        <p:spPr>
          <a:xfrm>
            <a:off x="640080" y="5193792"/>
            <a:ext cx="502920" cy="502920"/>
          </a:xfrm>
          <a:prstGeom prst="rect">
            <a:avLst/>
          </a:prstGeom>
          <a:noFill/>
          <a:ln/>
        </p:spPr>
        <p:txBody>
          <a:bodyPr wrap="square" lIns="0" tIns="0" rIns="0" bIns="0" rtlCol="0" anchor="ctr"/>
          <a:lstStyle/>
          <a:p>
            <a:pPr marL="0" indent="0" algn="ctr">
              <a:buNone/>
            </a:pPr>
            <a:r>
              <a:rPr lang="en-US" sz="1800" b="1" dirty="0">
                <a:solidFill>
                  <a:srgbClr val="D9A441"/>
                </a:solidFill>
                <a:latin typeface="Cambria" pitchFamily="34" charset="0"/>
                <a:ea typeface="Cambria" pitchFamily="34" charset="-122"/>
                <a:cs typeface="Cambria" pitchFamily="34" charset="-120"/>
              </a:rPr>
              <a:t>5</a:t>
            </a:r>
            <a:endParaRPr lang="en-US" sz="1800" dirty="0"/>
          </a:p>
        </p:txBody>
      </p:sp>
      <p:sp>
        <p:nvSpPr>
          <p:cNvPr id="23" name="Text 21"/>
          <p:cNvSpPr txBox="1"/>
          <p:nvPr/>
        </p:nvSpPr>
        <p:spPr>
          <a:xfrm>
            <a:off x="1371600" y="5157216"/>
            <a:ext cx="9784080" cy="704088"/>
          </a:xfrm>
          <a:prstGeom prst="rect">
            <a:avLst/>
          </a:prstGeom>
          <a:noFill/>
          <a:ln/>
        </p:spPr>
        <p:txBody>
          <a:bodyPr wrap="square" lIns="0" tIns="0" rIns="0" bIns="0" rtlCol="0" anchor="ctr"/>
          <a:lstStyle/>
          <a:p>
            <a:pPr marL="0" indent="0">
              <a:lnSpc>
                <a:spcPct val="115000"/>
              </a:lnSpc>
              <a:buNone/>
            </a:pPr>
            <a:r>
              <a:rPr lang="en-US" sz="1400" dirty="0">
                <a:solidFill>
                  <a:srgbClr val="1F2430"/>
                </a:solidFill>
                <a:latin typeface="Calibri" pitchFamily="34" charset="0"/>
                <a:ea typeface="Calibri" pitchFamily="34" charset="-122"/>
                <a:cs typeface="Calibri" pitchFamily="34" charset="-120"/>
              </a:rPr>
              <a:t>Realizar pruebas y validaciones sobre las funcionalidades desarrolladas y su integración.</a:t>
            </a:r>
            <a:endParaRPr lang="en-US" sz="1400" dirty="0"/>
          </a:p>
        </p:txBody>
      </p:sp>
      <p:sp>
        <p:nvSpPr>
          <p:cNvPr id="24" name="Text 2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METODOLOGÍA</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Metodología de trabajo: Scrum</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Text 3"/>
          <p:cNvSpPr txBox="1"/>
          <p:nvPr/>
        </p:nvSpPr>
        <p:spPr>
          <a:xfrm>
            <a:off x="640080" y="1737360"/>
            <a:ext cx="10515600" cy="731520"/>
          </a:xfrm>
          <a:prstGeom prst="rect">
            <a:avLst/>
          </a:prstGeom>
          <a:noFill/>
          <a:ln/>
        </p:spPr>
        <p:txBody>
          <a:bodyPr wrap="square" lIns="0" tIns="0" rIns="0" bIns="0" rtlCol="0" anchor="ctr"/>
          <a:lstStyle/>
          <a:p>
            <a:pPr marL="0" indent="0">
              <a:lnSpc>
                <a:spcPct val="125000"/>
              </a:lnSpc>
              <a:buNone/>
            </a:pPr>
            <a:r>
              <a:rPr lang="en-US" sz="1450" dirty="0">
                <a:solidFill>
                  <a:srgbClr val="1F2430"/>
                </a:solidFill>
                <a:latin typeface="Calibri" pitchFamily="34" charset="0"/>
                <a:ea typeface="Calibri" pitchFamily="34" charset="-122"/>
                <a:cs typeface="Calibri" pitchFamily="34" charset="-120"/>
              </a:rPr>
              <a:t>El proyecto se desarrolla de forma incremental durante el periodo académico, con revisiones semanales para presentar avances, validar requerimientos y ajustar actividades.</a:t>
            </a:r>
            <a:endParaRPr lang="en-US" sz="1450" dirty="0"/>
          </a:p>
        </p:txBody>
      </p:sp>
      <p:sp>
        <p:nvSpPr>
          <p:cNvPr id="6" name="Shape 4"/>
          <p:cNvSpPr/>
          <p:nvPr/>
        </p:nvSpPr>
        <p:spPr>
          <a:xfrm>
            <a:off x="640080" y="2834640"/>
            <a:ext cx="2377440" cy="1737360"/>
          </a:xfrm>
          <a:prstGeom prst="roundRect">
            <a:avLst>
              <a:gd name="adj" fmla="val 5263"/>
            </a:avLst>
          </a:prstGeom>
          <a:solidFill>
            <a:srgbClr val="FFFFFF"/>
          </a:solidFill>
          <a:ln w="12700">
            <a:solidFill>
              <a:srgbClr val="E2E7F2"/>
            </a:solidFill>
            <a:prstDash val="solid"/>
          </a:ln>
          <a:effectLst>
            <a:outerShdw blurRad="101600" dist="25400" dir="5400000" algn="bl" rotWithShape="0">
              <a:srgbClr val="1E2761">
                <a:alpha val="10000"/>
              </a:srgbClr>
            </a:outerShdw>
          </a:effectLst>
        </p:spPr>
        <p:txBody>
          <a:bodyPr/>
          <a:lstStyle/>
          <a:p>
            <a:endParaRPr lang="es-CL"/>
          </a:p>
        </p:txBody>
      </p:sp>
      <p:sp>
        <p:nvSpPr>
          <p:cNvPr id="7" name="Shape 5"/>
          <p:cNvSpPr/>
          <p:nvPr/>
        </p:nvSpPr>
        <p:spPr>
          <a:xfrm>
            <a:off x="822960" y="3017520"/>
            <a:ext cx="457200" cy="457200"/>
          </a:xfrm>
          <a:prstGeom prst="roundRect">
            <a:avLst>
              <a:gd name="adj" fmla="val 16000"/>
            </a:avLst>
          </a:prstGeom>
          <a:solidFill>
            <a:srgbClr val="D9A441"/>
          </a:solidFill>
          <a:ln/>
        </p:spPr>
        <p:txBody>
          <a:bodyPr/>
          <a:lstStyle/>
          <a:p>
            <a:endParaRPr lang="es-CL"/>
          </a:p>
        </p:txBody>
      </p:sp>
      <p:sp>
        <p:nvSpPr>
          <p:cNvPr id="8" name="Text 6"/>
          <p:cNvSpPr txBox="1"/>
          <p:nvPr/>
        </p:nvSpPr>
        <p:spPr>
          <a:xfrm>
            <a:off x="822960" y="3017520"/>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822960" y="3584448"/>
            <a:ext cx="2011680"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Análisis</a:t>
            </a:r>
            <a:endParaRPr lang="en-US" sz="1400" dirty="0"/>
          </a:p>
        </p:txBody>
      </p:sp>
      <p:sp>
        <p:nvSpPr>
          <p:cNvPr id="10" name="Text 8"/>
          <p:cNvSpPr txBox="1"/>
          <p:nvPr/>
        </p:nvSpPr>
        <p:spPr>
          <a:xfrm>
            <a:off x="822960" y="3931920"/>
            <a:ext cx="2011680" cy="548640"/>
          </a:xfrm>
          <a:prstGeom prst="rect">
            <a:avLst/>
          </a:prstGeom>
          <a:noFill/>
          <a:ln/>
        </p:spPr>
        <p:txBody>
          <a:bodyPr wrap="square" lIns="0" tIns="0" rIns="0" bIns="0"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de la plataforma actual y levantamiento de requerimientos</a:t>
            </a:r>
            <a:endParaRPr lang="en-US" sz="1100" dirty="0"/>
          </a:p>
        </p:txBody>
      </p:sp>
      <p:sp>
        <p:nvSpPr>
          <p:cNvPr id="11" name="Text 9"/>
          <p:cNvSpPr txBox="1"/>
          <p:nvPr/>
        </p:nvSpPr>
        <p:spPr>
          <a:xfrm>
            <a:off x="3026664" y="3474720"/>
            <a:ext cx="301752" cy="457200"/>
          </a:xfrm>
          <a:prstGeom prst="rect">
            <a:avLst/>
          </a:prstGeom>
          <a:noFill/>
          <a:ln/>
        </p:spPr>
        <p:txBody>
          <a:bodyPr wrap="square" lIns="0" tIns="0" rIns="0" bIns="0" rtlCol="0" anchor="ctr"/>
          <a:lstStyle/>
          <a:p>
            <a:pPr marL="0" indent="0" algn="ctr">
              <a:buNone/>
            </a:pPr>
            <a:r>
              <a:rPr lang="en-US" sz="2000" b="1" dirty="0">
                <a:solidFill>
                  <a:srgbClr val="D9A441"/>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3337560" y="2834640"/>
            <a:ext cx="2377440" cy="1737360"/>
          </a:xfrm>
          <a:prstGeom prst="roundRect">
            <a:avLst>
              <a:gd name="adj" fmla="val 5263"/>
            </a:avLst>
          </a:prstGeom>
          <a:solidFill>
            <a:srgbClr val="FFFFFF"/>
          </a:solidFill>
          <a:ln w="12700">
            <a:solidFill>
              <a:srgbClr val="E2E7F2"/>
            </a:solidFill>
            <a:prstDash val="solid"/>
          </a:ln>
          <a:effectLst>
            <a:outerShdw blurRad="101600" dist="25400" dir="5400000" algn="bl" rotWithShape="0">
              <a:srgbClr val="1E2761">
                <a:alpha val="10000"/>
              </a:srgbClr>
            </a:outerShdw>
          </a:effectLst>
        </p:spPr>
        <p:txBody>
          <a:bodyPr/>
          <a:lstStyle/>
          <a:p>
            <a:endParaRPr lang="es-CL"/>
          </a:p>
        </p:txBody>
      </p:sp>
      <p:sp>
        <p:nvSpPr>
          <p:cNvPr id="13" name="Shape 11"/>
          <p:cNvSpPr/>
          <p:nvPr/>
        </p:nvSpPr>
        <p:spPr>
          <a:xfrm>
            <a:off x="3520440" y="3017520"/>
            <a:ext cx="457200" cy="457200"/>
          </a:xfrm>
          <a:prstGeom prst="roundRect">
            <a:avLst>
              <a:gd name="adj" fmla="val 16000"/>
            </a:avLst>
          </a:prstGeom>
          <a:solidFill>
            <a:srgbClr val="D9A441"/>
          </a:solidFill>
          <a:ln/>
        </p:spPr>
        <p:txBody>
          <a:bodyPr/>
          <a:lstStyle/>
          <a:p>
            <a:endParaRPr lang="es-CL"/>
          </a:p>
        </p:txBody>
      </p:sp>
      <p:sp>
        <p:nvSpPr>
          <p:cNvPr id="14" name="Text 12"/>
          <p:cNvSpPr txBox="1"/>
          <p:nvPr/>
        </p:nvSpPr>
        <p:spPr>
          <a:xfrm>
            <a:off x="3520440" y="3017520"/>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3520440" y="3584448"/>
            <a:ext cx="2011680"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Backlog</a:t>
            </a:r>
            <a:endParaRPr lang="en-US" sz="1400" dirty="0"/>
          </a:p>
        </p:txBody>
      </p:sp>
      <p:sp>
        <p:nvSpPr>
          <p:cNvPr id="16" name="Text 14"/>
          <p:cNvSpPr txBox="1"/>
          <p:nvPr/>
        </p:nvSpPr>
        <p:spPr>
          <a:xfrm>
            <a:off x="3520440" y="3931920"/>
            <a:ext cx="2011680" cy="548640"/>
          </a:xfrm>
          <a:prstGeom prst="rect">
            <a:avLst/>
          </a:prstGeom>
          <a:noFill/>
          <a:ln/>
        </p:spPr>
        <p:txBody>
          <a:bodyPr wrap="square" lIns="0" tIns="0" rIns="0" bIns="0"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priorización de tareas a desarrollar</a:t>
            </a:r>
            <a:endParaRPr lang="en-US" sz="1100" dirty="0"/>
          </a:p>
        </p:txBody>
      </p:sp>
      <p:sp>
        <p:nvSpPr>
          <p:cNvPr id="17" name="Text 15"/>
          <p:cNvSpPr txBox="1"/>
          <p:nvPr/>
        </p:nvSpPr>
        <p:spPr>
          <a:xfrm>
            <a:off x="5724144" y="3474720"/>
            <a:ext cx="301752" cy="457200"/>
          </a:xfrm>
          <a:prstGeom prst="rect">
            <a:avLst/>
          </a:prstGeom>
          <a:noFill/>
          <a:ln/>
        </p:spPr>
        <p:txBody>
          <a:bodyPr wrap="square" lIns="0" tIns="0" rIns="0" bIns="0" rtlCol="0" anchor="ctr"/>
          <a:lstStyle/>
          <a:p>
            <a:pPr marL="0" indent="0" algn="ctr">
              <a:buNone/>
            </a:pPr>
            <a:r>
              <a:rPr lang="en-US" sz="2000" b="1" dirty="0">
                <a:solidFill>
                  <a:srgbClr val="D9A441"/>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6035040" y="2834640"/>
            <a:ext cx="2377440" cy="1737360"/>
          </a:xfrm>
          <a:prstGeom prst="roundRect">
            <a:avLst>
              <a:gd name="adj" fmla="val 5263"/>
            </a:avLst>
          </a:prstGeom>
          <a:solidFill>
            <a:srgbClr val="FFFFFF"/>
          </a:solidFill>
          <a:ln w="12700">
            <a:solidFill>
              <a:srgbClr val="E2E7F2"/>
            </a:solidFill>
            <a:prstDash val="solid"/>
          </a:ln>
          <a:effectLst>
            <a:outerShdw blurRad="101600" dist="25400" dir="5400000" algn="bl" rotWithShape="0">
              <a:srgbClr val="1E2761">
                <a:alpha val="10000"/>
              </a:srgbClr>
            </a:outerShdw>
          </a:effectLst>
        </p:spPr>
        <p:txBody>
          <a:bodyPr/>
          <a:lstStyle/>
          <a:p>
            <a:endParaRPr lang="es-CL"/>
          </a:p>
        </p:txBody>
      </p:sp>
      <p:sp>
        <p:nvSpPr>
          <p:cNvPr id="19" name="Shape 17"/>
          <p:cNvSpPr/>
          <p:nvPr/>
        </p:nvSpPr>
        <p:spPr>
          <a:xfrm>
            <a:off x="6217920" y="3017520"/>
            <a:ext cx="457200" cy="457200"/>
          </a:xfrm>
          <a:prstGeom prst="roundRect">
            <a:avLst>
              <a:gd name="adj" fmla="val 16000"/>
            </a:avLst>
          </a:prstGeom>
          <a:solidFill>
            <a:srgbClr val="D9A441"/>
          </a:solidFill>
          <a:ln/>
        </p:spPr>
        <p:txBody>
          <a:bodyPr/>
          <a:lstStyle/>
          <a:p>
            <a:endParaRPr lang="es-CL"/>
          </a:p>
        </p:txBody>
      </p:sp>
      <p:sp>
        <p:nvSpPr>
          <p:cNvPr id="20" name="Text 18"/>
          <p:cNvSpPr txBox="1"/>
          <p:nvPr/>
        </p:nvSpPr>
        <p:spPr>
          <a:xfrm>
            <a:off x="6217920" y="3017520"/>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6217920" y="3584448"/>
            <a:ext cx="2011680"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Diseño y desarrollo</a:t>
            </a:r>
            <a:endParaRPr lang="en-US" sz="1400" dirty="0"/>
          </a:p>
        </p:txBody>
      </p:sp>
      <p:sp>
        <p:nvSpPr>
          <p:cNvPr id="22" name="Text 20"/>
          <p:cNvSpPr txBox="1"/>
          <p:nvPr/>
        </p:nvSpPr>
        <p:spPr>
          <a:xfrm>
            <a:off x="6217920" y="3931920"/>
            <a:ext cx="2011680" cy="548640"/>
          </a:xfrm>
          <a:prstGeom prst="rect">
            <a:avLst/>
          </a:prstGeom>
          <a:noFill/>
          <a:ln/>
        </p:spPr>
        <p:txBody>
          <a:bodyPr wrap="square" lIns="0" tIns="0" rIns="0" bIns="0"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de las funcionalidades definidas</a:t>
            </a:r>
            <a:endParaRPr lang="en-US" sz="1100" dirty="0"/>
          </a:p>
        </p:txBody>
      </p:sp>
      <p:sp>
        <p:nvSpPr>
          <p:cNvPr id="23" name="Text 21"/>
          <p:cNvSpPr txBox="1"/>
          <p:nvPr/>
        </p:nvSpPr>
        <p:spPr>
          <a:xfrm>
            <a:off x="8421624" y="3474720"/>
            <a:ext cx="301752" cy="457200"/>
          </a:xfrm>
          <a:prstGeom prst="rect">
            <a:avLst/>
          </a:prstGeom>
          <a:noFill/>
          <a:ln/>
        </p:spPr>
        <p:txBody>
          <a:bodyPr wrap="square" lIns="0" tIns="0" rIns="0" bIns="0" rtlCol="0" anchor="ctr"/>
          <a:lstStyle/>
          <a:p>
            <a:pPr marL="0" indent="0" algn="ctr">
              <a:buNone/>
            </a:pPr>
            <a:r>
              <a:rPr lang="en-US" sz="2000" b="1" dirty="0">
                <a:solidFill>
                  <a:srgbClr val="D9A441"/>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8732520" y="2834640"/>
            <a:ext cx="2377440" cy="1737360"/>
          </a:xfrm>
          <a:prstGeom prst="roundRect">
            <a:avLst>
              <a:gd name="adj" fmla="val 5263"/>
            </a:avLst>
          </a:prstGeom>
          <a:solidFill>
            <a:srgbClr val="FFFFFF"/>
          </a:solidFill>
          <a:ln w="12700">
            <a:solidFill>
              <a:srgbClr val="E2E7F2"/>
            </a:solidFill>
            <a:prstDash val="solid"/>
          </a:ln>
          <a:effectLst>
            <a:outerShdw blurRad="101600" dist="25400" dir="5400000" algn="bl" rotWithShape="0">
              <a:srgbClr val="1E2761">
                <a:alpha val="10000"/>
              </a:srgbClr>
            </a:outerShdw>
          </a:effectLst>
        </p:spPr>
        <p:txBody>
          <a:bodyPr/>
          <a:lstStyle/>
          <a:p>
            <a:endParaRPr lang="es-CL"/>
          </a:p>
        </p:txBody>
      </p:sp>
      <p:sp>
        <p:nvSpPr>
          <p:cNvPr id="25" name="Shape 23"/>
          <p:cNvSpPr/>
          <p:nvPr/>
        </p:nvSpPr>
        <p:spPr>
          <a:xfrm>
            <a:off x="8915400" y="3017520"/>
            <a:ext cx="457200" cy="457200"/>
          </a:xfrm>
          <a:prstGeom prst="roundRect">
            <a:avLst>
              <a:gd name="adj" fmla="val 16000"/>
            </a:avLst>
          </a:prstGeom>
          <a:solidFill>
            <a:srgbClr val="D9A441"/>
          </a:solidFill>
          <a:ln/>
        </p:spPr>
        <p:txBody>
          <a:bodyPr/>
          <a:lstStyle/>
          <a:p>
            <a:endParaRPr lang="es-CL"/>
          </a:p>
        </p:txBody>
      </p:sp>
      <p:sp>
        <p:nvSpPr>
          <p:cNvPr id="26" name="Text 24"/>
          <p:cNvSpPr txBox="1"/>
          <p:nvPr/>
        </p:nvSpPr>
        <p:spPr>
          <a:xfrm>
            <a:off x="8915400" y="3017520"/>
            <a:ext cx="457200" cy="457200"/>
          </a:xfrm>
          <a:prstGeom prst="rect">
            <a:avLst/>
          </a:prstGeom>
          <a:noFill/>
          <a:ln/>
        </p:spPr>
        <p:txBody>
          <a:bodyPr wrap="square" lIns="0" tIns="0" rIns="0" bIns="0"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4</a:t>
            </a:r>
            <a:endParaRPr lang="en-US" sz="1600" dirty="0"/>
          </a:p>
        </p:txBody>
      </p:sp>
      <p:sp>
        <p:nvSpPr>
          <p:cNvPr id="27" name="Text 25"/>
          <p:cNvSpPr txBox="1"/>
          <p:nvPr/>
        </p:nvSpPr>
        <p:spPr>
          <a:xfrm>
            <a:off x="8915400" y="3584448"/>
            <a:ext cx="2011680" cy="36576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Integración y pruebas</a:t>
            </a:r>
            <a:endParaRPr lang="en-US" sz="1400" dirty="0"/>
          </a:p>
        </p:txBody>
      </p:sp>
      <p:sp>
        <p:nvSpPr>
          <p:cNvPr id="28" name="Text 26"/>
          <p:cNvSpPr txBox="1"/>
          <p:nvPr/>
        </p:nvSpPr>
        <p:spPr>
          <a:xfrm>
            <a:off x="8915400" y="3931920"/>
            <a:ext cx="2011680" cy="548640"/>
          </a:xfrm>
          <a:prstGeom prst="rect">
            <a:avLst/>
          </a:prstGeom>
          <a:noFill/>
          <a:ln/>
        </p:spPr>
        <p:txBody>
          <a:bodyPr wrap="square" lIns="0" tIns="0" rIns="0" bIns="0"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sobre la solución existente</a:t>
            </a:r>
            <a:endParaRPr lang="en-US" sz="1100" dirty="0"/>
          </a:p>
        </p:txBody>
      </p:sp>
      <p:sp>
        <p:nvSpPr>
          <p:cNvPr id="29" name="Shape 27"/>
          <p:cNvSpPr/>
          <p:nvPr/>
        </p:nvSpPr>
        <p:spPr>
          <a:xfrm>
            <a:off x="640080" y="4937760"/>
            <a:ext cx="10515600" cy="1051560"/>
          </a:xfrm>
          <a:prstGeom prst="roundRect">
            <a:avLst>
              <a:gd name="adj" fmla="val 8696"/>
            </a:avLst>
          </a:prstGeom>
          <a:solidFill>
            <a:srgbClr val="1E2761"/>
          </a:solidFill>
          <a:ln/>
        </p:spPr>
        <p:txBody>
          <a:bodyPr/>
          <a:lstStyle/>
          <a:p>
            <a:endParaRPr lang="es-CL"/>
          </a:p>
        </p:txBody>
      </p:sp>
      <p:sp>
        <p:nvSpPr>
          <p:cNvPr id="30" name="Text 28"/>
          <p:cNvSpPr txBox="1"/>
          <p:nvPr/>
        </p:nvSpPr>
        <p:spPr>
          <a:xfrm>
            <a:off x="914400" y="5074920"/>
            <a:ext cx="7315200" cy="274320"/>
          </a:xfrm>
          <a:prstGeom prst="rect">
            <a:avLst/>
          </a:prstGeom>
          <a:noFill/>
          <a:ln/>
        </p:spPr>
        <p:txBody>
          <a:bodyPr wrap="square" lIns="0" tIns="0" rIns="0" bIns="0" rtlCol="0" anchor="ctr"/>
          <a:lstStyle/>
          <a:p>
            <a:pPr marL="0" indent="0">
              <a:buNone/>
            </a:pPr>
            <a:r>
              <a:rPr lang="en-US" sz="1100" b="1" kern="0" spc="120" dirty="0">
                <a:solidFill>
                  <a:srgbClr val="D9A441"/>
                </a:solidFill>
                <a:latin typeface="Calibri" pitchFamily="34" charset="0"/>
                <a:ea typeface="Calibri" pitchFamily="34" charset="-122"/>
                <a:cs typeface="Calibri" pitchFamily="34" charset="-120"/>
              </a:rPr>
              <a:t>ESTÁNDARES TRANSVERSALES CONSIDERADOS</a:t>
            </a:r>
            <a:endParaRPr lang="en-US" sz="1100" dirty="0"/>
          </a:p>
        </p:txBody>
      </p:sp>
      <p:sp>
        <p:nvSpPr>
          <p:cNvPr id="31" name="Text 29"/>
          <p:cNvSpPr txBox="1"/>
          <p:nvPr/>
        </p:nvSpPr>
        <p:spPr>
          <a:xfrm>
            <a:off x="914400" y="5349240"/>
            <a:ext cx="9966960" cy="548640"/>
          </a:xfrm>
          <a:prstGeom prst="rect">
            <a:avLst/>
          </a:prstGeom>
          <a:noFill/>
          <a:ln/>
        </p:spPr>
        <p:txBody>
          <a:bodyPr wrap="square" lIns="0" tIns="0" rIns="0" bIns="0" rtlCol="0" anchor="ctr"/>
          <a:lstStyle/>
          <a:p>
            <a:pPr marL="0" indent="0">
              <a:lnSpc>
                <a:spcPct val="120000"/>
              </a:lnSpc>
              <a:buNone/>
            </a:pPr>
            <a:r>
              <a:rPr lang="en-US" sz="1300" dirty="0">
                <a:solidFill>
                  <a:srgbClr val="CADCFC"/>
                </a:solidFill>
                <a:latin typeface="Calibri" pitchFamily="34" charset="0"/>
                <a:ea typeface="Calibri" pitchFamily="34" charset="-122"/>
                <a:cs typeface="Calibri" pitchFamily="34" charset="-120"/>
              </a:rPr>
              <a:t>Multi-tenancy con client_id · Feature Gating · RBAC y JWT · Internacionalización · Arquitectura API-First · Auditoría de logs</a:t>
            </a:r>
            <a:endParaRPr lang="en-US" sz="1300" dirty="0"/>
          </a:p>
        </p:txBody>
      </p:sp>
      <p:sp>
        <p:nvSpPr>
          <p:cNvPr id="32" name="Text 30"/>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PLANIFICACIÓN</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Plan de trabajo</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Shape 3"/>
          <p:cNvSpPr/>
          <p:nvPr/>
        </p:nvSpPr>
        <p:spPr>
          <a:xfrm>
            <a:off x="640080" y="1920240"/>
            <a:ext cx="3337560" cy="3977640"/>
          </a:xfrm>
          <a:prstGeom prst="roundRect">
            <a:avLst>
              <a:gd name="adj" fmla="val 2740"/>
            </a:avLst>
          </a:prstGeom>
          <a:solidFill>
            <a:srgbClr val="FFFFFF"/>
          </a:solidFill>
          <a:ln w="12700">
            <a:solidFill>
              <a:srgbClr val="E2E7F2"/>
            </a:solidFill>
            <a:prstDash val="solid"/>
          </a:ln>
          <a:effectLst>
            <a:outerShdw blurRad="101600" dist="25400" dir="5400000" algn="bl" rotWithShape="0">
              <a:srgbClr val="1E2761">
                <a:alpha val="10000"/>
              </a:srgbClr>
            </a:outerShdw>
          </a:effectLst>
        </p:spPr>
        <p:txBody>
          <a:bodyPr/>
          <a:lstStyle/>
          <a:p>
            <a:endParaRPr lang="es-CL"/>
          </a:p>
        </p:txBody>
      </p:sp>
      <p:sp>
        <p:nvSpPr>
          <p:cNvPr id="6" name="Shape 4"/>
          <p:cNvSpPr/>
          <p:nvPr/>
        </p:nvSpPr>
        <p:spPr>
          <a:xfrm>
            <a:off x="640080" y="1920240"/>
            <a:ext cx="3337560" cy="594360"/>
          </a:xfrm>
          <a:prstGeom prst="roundRect">
            <a:avLst>
              <a:gd name="adj" fmla="val 15385"/>
            </a:avLst>
          </a:prstGeom>
          <a:solidFill>
            <a:srgbClr val="1E2761"/>
          </a:solidFill>
          <a:ln/>
        </p:spPr>
        <p:txBody>
          <a:bodyPr/>
          <a:lstStyle/>
          <a:p>
            <a:endParaRPr lang="es-CL"/>
          </a:p>
        </p:txBody>
      </p:sp>
      <p:sp>
        <p:nvSpPr>
          <p:cNvPr id="7" name="Shape 5"/>
          <p:cNvSpPr/>
          <p:nvPr/>
        </p:nvSpPr>
        <p:spPr>
          <a:xfrm>
            <a:off x="640080" y="2286000"/>
            <a:ext cx="3337560" cy="228600"/>
          </a:xfrm>
          <a:prstGeom prst="rect">
            <a:avLst/>
          </a:prstGeom>
          <a:solidFill>
            <a:srgbClr val="1E2761"/>
          </a:solidFill>
          <a:ln/>
        </p:spPr>
        <p:txBody>
          <a:bodyPr/>
          <a:lstStyle/>
          <a:p>
            <a:endParaRPr lang="es-CL"/>
          </a:p>
        </p:txBody>
      </p:sp>
      <p:sp>
        <p:nvSpPr>
          <p:cNvPr id="8" name="Text 6"/>
          <p:cNvSpPr txBox="1"/>
          <p:nvPr/>
        </p:nvSpPr>
        <p:spPr>
          <a:xfrm>
            <a:off x="868680" y="1920240"/>
            <a:ext cx="2880360" cy="594360"/>
          </a:xfrm>
          <a:prstGeom prst="rect">
            <a:avLst/>
          </a:prstGeom>
          <a:noFill/>
          <a:ln/>
        </p:spPr>
        <p:txBody>
          <a:bodyPr wrap="square" lIns="0" tIns="0" rIns="0" bIns="0" rtlCol="0" anchor="ctr"/>
          <a:lstStyle/>
          <a:p>
            <a:pPr marL="0" indent="0">
              <a:buNone/>
            </a:pPr>
            <a:r>
              <a:rPr lang="en-US" sz="1600" b="1" dirty="0">
                <a:solidFill>
                  <a:srgbClr val="D9A441"/>
                </a:solidFill>
                <a:latin typeface="Cambria" pitchFamily="34" charset="0"/>
                <a:ea typeface="Cambria" pitchFamily="34" charset="-122"/>
                <a:cs typeface="Cambria" pitchFamily="34" charset="-120"/>
              </a:rPr>
              <a:t>Fase 1</a:t>
            </a:r>
            <a:endParaRPr lang="en-US" sz="1600" dirty="0"/>
          </a:p>
        </p:txBody>
      </p:sp>
      <p:sp>
        <p:nvSpPr>
          <p:cNvPr id="9" name="Text 7"/>
          <p:cNvSpPr txBox="1"/>
          <p:nvPr/>
        </p:nvSpPr>
        <p:spPr>
          <a:xfrm>
            <a:off x="868680" y="2697480"/>
            <a:ext cx="2880360" cy="822960"/>
          </a:xfrm>
          <a:prstGeom prst="rect">
            <a:avLst/>
          </a:prstGeom>
          <a:noFill/>
          <a:ln/>
        </p:spPr>
        <p:txBody>
          <a:bodyPr wrap="square" lIns="0" tIns="0" rIns="0" bIns="0" rtlCol="0" anchor="ctr"/>
          <a:lstStyle/>
          <a:p>
            <a:pPr marL="0" indent="0">
              <a:lnSpc>
                <a:spcPct val="110000"/>
              </a:lnSpc>
              <a:buNone/>
            </a:pPr>
            <a:r>
              <a:rPr lang="en-US" sz="1500" b="1" dirty="0">
                <a:solidFill>
                  <a:srgbClr val="1E2761"/>
                </a:solidFill>
                <a:latin typeface="Cambria" pitchFamily="34" charset="0"/>
                <a:ea typeface="Cambria" pitchFamily="34" charset="-122"/>
                <a:cs typeface="Cambria" pitchFamily="34" charset="-120"/>
              </a:rPr>
              <a:t>Análisis de plataforma y requerimientos</a:t>
            </a:r>
            <a:endParaRPr lang="en-US" sz="1500" dirty="0"/>
          </a:p>
        </p:txBody>
      </p:sp>
      <p:sp>
        <p:nvSpPr>
          <p:cNvPr id="10" name="Text 8"/>
          <p:cNvSpPr txBox="1"/>
          <p:nvPr/>
        </p:nvSpPr>
        <p:spPr>
          <a:xfrm>
            <a:off x="868680" y="3611880"/>
            <a:ext cx="2880360" cy="1463040"/>
          </a:xfrm>
          <a:prstGeom prst="rect">
            <a:avLst/>
          </a:prstGeom>
          <a:noFill/>
          <a:ln/>
        </p:spPr>
        <p:txBody>
          <a:bodyPr wrap="square" lIns="0" tIns="0" rIns="0" bIns="0" rtlCol="0" anchor="ctr"/>
          <a:lstStyle/>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Revisar la implementación de ISO 27001, identificar componentes reutilizables y levantar los requerimientos de ISO 42001.</a:t>
            </a:r>
            <a:endParaRPr lang="en-US" sz="1200" dirty="0"/>
          </a:p>
        </p:txBody>
      </p:sp>
      <p:sp>
        <p:nvSpPr>
          <p:cNvPr id="11" name="Text 9"/>
          <p:cNvSpPr txBox="1"/>
          <p:nvPr/>
        </p:nvSpPr>
        <p:spPr>
          <a:xfrm>
            <a:off x="868680" y="5394960"/>
            <a:ext cx="2880360" cy="411480"/>
          </a:xfrm>
          <a:prstGeom prst="rect">
            <a:avLst/>
          </a:prstGeom>
          <a:noFill/>
          <a:ln/>
        </p:spPr>
        <p:txBody>
          <a:bodyPr wrap="square" lIns="0" tIns="0" rIns="0" bIns="0" rtlCol="0" anchor="ctr"/>
          <a:lstStyle/>
          <a:p>
            <a:pPr marL="0" indent="0">
              <a:buNone/>
            </a:pPr>
            <a:r>
              <a:rPr lang="en-US" sz="1050" i="1" dirty="0">
                <a:solidFill>
                  <a:srgbClr val="D9A441"/>
                </a:solidFill>
                <a:latin typeface="Calibri" pitchFamily="34" charset="0"/>
                <a:ea typeface="Calibri" pitchFamily="34" charset="-122"/>
                <a:cs typeface="Calibri" pitchFamily="34" charset="-120"/>
              </a:rPr>
              <a:t>Responsables: Vicente Suazo y Andrea Santana</a:t>
            </a:r>
            <a:endParaRPr lang="en-US" sz="1050" dirty="0"/>
          </a:p>
        </p:txBody>
      </p:sp>
      <p:sp>
        <p:nvSpPr>
          <p:cNvPr id="12" name="Shape 10"/>
          <p:cNvSpPr/>
          <p:nvPr/>
        </p:nvSpPr>
        <p:spPr>
          <a:xfrm>
            <a:off x="4251960" y="1920240"/>
            <a:ext cx="3337560" cy="3977640"/>
          </a:xfrm>
          <a:prstGeom prst="roundRect">
            <a:avLst>
              <a:gd name="adj" fmla="val 2740"/>
            </a:avLst>
          </a:prstGeom>
          <a:solidFill>
            <a:srgbClr val="FFFFFF"/>
          </a:solidFill>
          <a:ln w="12700">
            <a:solidFill>
              <a:srgbClr val="E2E7F2"/>
            </a:solidFill>
            <a:prstDash val="solid"/>
          </a:ln>
          <a:effectLst>
            <a:outerShdw blurRad="101600" dist="25400" dir="5400000" algn="bl" rotWithShape="0">
              <a:srgbClr val="1E2761">
                <a:alpha val="10000"/>
              </a:srgbClr>
            </a:outerShdw>
          </a:effectLst>
        </p:spPr>
        <p:txBody>
          <a:bodyPr/>
          <a:lstStyle/>
          <a:p>
            <a:endParaRPr lang="es-CL"/>
          </a:p>
        </p:txBody>
      </p:sp>
      <p:sp>
        <p:nvSpPr>
          <p:cNvPr id="13" name="Shape 11"/>
          <p:cNvSpPr/>
          <p:nvPr/>
        </p:nvSpPr>
        <p:spPr>
          <a:xfrm>
            <a:off x="4251960" y="1920240"/>
            <a:ext cx="3337560" cy="594360"/>
          </a:xfrm>
          <a:prstGeom prst="roundRect">
            <a:avLst>
              <a:gd name="adj" fmla="val 15385"/>
            </a:avLst>
          </a:prstGeom>
          <a:solidFill>
            <a:srgbClr val="1E2761"/>
          </a:solidFill>
          <a:ln/>
        </p:spPr>
        <p:txBody>
          <a:bodyPr/>
          <a:lstStyle/>
          <a:p>
            <a:endParaRPr lang="es-CL"/>
          </a:p>
        </p:txBody>
      </p:sp>
      <p:sp>
        <p:nvSpPr>
          <p:cNvPr id="14" name="Shape 12"/>
          <p:cNvSpPr/>
          <p:nvPr/>
        </p:nvSpPr>
        <p:spPr>
          <a:xfrm>
            <a:off x="4251960" y="2286000"/>
            <a:ext cx="3337560" cy="228600"/>
          </a:xfrm>
          <a:prstGeom prst="rect">
            <a:avLst/>
          </a:prstGeom>
          <a:solidFill>
            <a:srgbClr val="1E2761"/>
          </a:solidFill>
          <a:ln/>
        </p:spPr>
        <p:txBody>
          <a:bodyPr/>
          <a:lstStyle/>
          <a:p>
            <a:endParaRPr lang="es-CL"/>
          </a:p>
        </p:txBody>
      </p:sp>
      <p:sp>
        <p:nvSpPr>
          <p:cNvPr id="15" name="Text 13"/>
          <p:cNvSpPr txBox="1"/>
          <p:nvPr/>
        </p:nvSpPr>
        <p:spPr>
          <a:xfrm>
            <a:off x="4480560" y="1920240"/>
            <a:ext cx="2880360" cy="594360"/>
          </a:xfrm>
          <a:prstGeom prst="rect">
            <a:avLst/>
          </a:prstGeom>
          <a:noFill/>
          <a:ln/>
        </p:spPr>
        <p:txBody>
          <a:bodyPr wrap="square" lIns="0" tIns="0" rIns="0" bIns="0" rtlCol="0" anchor="ctr"/>
          <a:lstStyle/>
          <a:p>
            <a:pPr marL="0" indent="0">
              <a:buNone/>
            </a:pPr>
            <a:r>
              <a:rPr lang="en-US" sz="1600" b="1" dirty="0">
                <a:solidFill>
                  <a:srgbClr val="D9A441"/>
                </a:solidFill>
                <a:latin typeface="Cambria" pitchFamily="34" charset="0"/>
                <a:ea typeface="Cambria" pitchFamily="34" charset="-122"/>
                <a:cs typeface="Cambria" pitchFamily="34" charset="-120"/>
              </a:rPr>
              <a:t>Fase 2</a:t>
            </a:r>
            <a:endParaRPr lang="en-US" sz="1600" dirty="0"/>
          </a:p>
        </p:txBody>
      </p:sp>
      <p:sp>
        <p:nvSpPr>
          <p:cNvPr id="16" name="Text 14"/>
          <p:cNvSpPr txBox="1"/>
          <p:nvPr/>
        </p:nvSpPr>
        <p:spPr>
          <a:xfrm>
            <a:off x="4480560" y="2697480"/>
            <a:ext cx="2880360" cy="822960"/>
          </a:xfrm>
          <a:prstGeom prst="rect">
            <a:avLst/>
          </a:prstGeom>
          <a:noFill/>
          <a:ln/>
        </p:spPr>
        <p:txBody>
          <a:bodyPr wrap="square" lIns="0" tIns="0" rIns="0" bIns="0" rtlCol="0" anchor="ctr"/>
          <a:lstStyle/>
          <a:p>
            <a:pPr marL="0" indent="0">
              <a:lnSpc>
                <a:spcPct val="110000"/>
              </a:lnSpc>
              <a:buNone/>
            </a:pPr>
            <a:r>
              <a:rPr lang="en-US" sz="1500" b="1" dirty="0">
                <a:solidFill>
                  <a:srgbClr val="1E2761"/>
                </a:solidFill>
                <a:latin typeface="Cambria" pitchFamily="34" charset="0"/>
                <a:ea typeface="Cambria" pitchFamily="34" charset="-122"/>
                <a:cs typeface="Cambria" pitchFamily="34" charset="-120"/>
              </a:rPr>
              <a:t>Diseño, desarrollo e integración</a:t>
            </a:r>
            <a:endParaRPr lang="en-US" sz="1500" dirty="0"/>
          </a:p>
        </p:txBody>
      </p:sp>
      <p:sp>
        <p:nvSpPr>
          <p:cNvPr id="17" name="Text 15"/>
          <p:cNvSpPr txBox="1"/>
          <p:nvPr/>
        </p:nvSpPr>
        <p:spPr>
          <a:xfrm>
            <a:off x="4480560" y="3611880"/>
            <a:ext cx="2880360" cy="1463040"/>
          </a:xfrm>
          <a:prstGeom prst="rect">
            <a:avLst/>
          </a:prstGeom>
          <a:noFill/>
          <a:ln/>
        </p:spPr>
        <p:txBody>
          <a:bodyPr wrap="square" lIns="0" tIns="0" rIns="0" bIns="0" rtlCol="0" anchor="ctr"/>
          <a:lstStyle/>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Diseñar, desarrollar e integrar las funcionalidades de ISO 42001 sobre la plataforma existente.</a:t>
            </a:r>
            <a:endParaRPr lang="en-US" sz="1200" dirty="0"/>
          </a:p>
        </p:txBody>
      </p:sp>
      <p:sp>
        <p:nvSpPr>
          <p:cNvPr id="18" name="Text 16"/>
          <p:cNvSpPr txBox="1"/>
          <p:nvPr/>
        </p:nvSpPr>
        <p:spPr>
          <a:xfrm>
            <a:off x="4480560" y="5394960"/>
            <a:ext cx="2880360" cy="411480"/>
          </a:xfrm>
          <a:prstGeom prst="rect">
            <a:avLst/>
          </a:prstGeom>
          <a:noFill/>
          <a:ln/>
        </p:spPr>
        <p:txBody>
          <a:bodyPr wrap="square" lIns="0" tIns="0" rIns="0" bIns="0" rtlCol="0" anchor="ctr"/>
          <a:lstStyle/>
          <a:p>
            <a:pPr marL="0" indent="0">
              <a:buNone/>
            </a:pPr>
            <a:r>
              <a:rPr lang="en-US" sz="1050" i="1" dirty="0">
                <a:solidFill>
                  <a:srgbClr val="D9A441"/>
                </a:solidFill>
                <a:latin typeface="Calibri" pitchFamily="34" charset="0"/>
                <a:ea typeface="Calibri" pitchFamily="34" charset="-122"/>
                <a:cs typeface="Calibri" pitchFamily="34" charset="-120"/>
              </a:rPr>
              <a:t>Responsables: Vicente Suazo y Andrea Santana</a:t>
            </a:r>
            <a:endParaRPr lang="en-US" sz="1050" dirty="0"/>
          </a:p>
        </p:txBody>
      </p:sp>
      <p:sp>
        <p:nvSpPr>
          <p:cNvPr id="19" name="Shape 17"/>
          <p:cNvSpPr/>
          <p:nvPr/>
        </p:nvSpPr>
        <p:spPr>
          <a:xfrm>
            <a:off x="7863840" y="1920240"/>
            <a:ext cx="3337560" cy="3977640"/>
          </a:xfrm>
          <a:prstGeom prst="roundRect">
            <a:avLst>
              <a:gd name="adj" fmla="val 2740"/>
            </a:avLst>
          </a:prstGeom>
          <a:solidFill>
            <a:srgbClr val="FFFFFF"/>
          </a:solidFill>
          <a:ln w="12700">
            <a:solidFill>
              <a:srgbClr val="E2E7F2"/>
            </a:solidFill>
            <a:prstDash val="solid"/>
          </a:ln>
          <a:effectLst>
            <a:outerShdw blurRad="101600" dist="25400" dir="5400000" algn="bl" rotWithShape="0">
              <a:srgbClr val="1E2761">
                <a:alpha val="10000"/>
              </a:srgbClr>
            </a:outerShdw>
          </a:effectLst>
        </p:spPr>
        <p:txBody>
          <a:bodyPr/>
          <a:lstStyle/>
          <a:p>
            <a:endParaRPr lang="es-CL"/>
          </a:p>
        </p:txBody>
      </p:sp>
      <p:sp>
        <p:nvSpPr>
          <p:cNvPr id="20" name="Shape 18"/>
          <p:cNvSpPr/>
          <p:nvPr/>
        </p:nvSpPr>
        <p:spPr>
          <a:xfrm>
            <a:off x="7863840" y="1920240"/>
            <a:ext cx="3337560" cy="594360"/>
          </a:xfrm>
          <a:prstGeom prst="roundRect">
            <a:avLst>
              <a:gd name="adj" fmla="val 15385"/>
            </a:avLst>
          </a:prstGeom>
          <a:solidFill>
            <a:srgbClr val="1E2761"/>
          </a:solidFill>
          <a:ln/>
        </p:spPr>
        <p:txBody>
          <a:bodyPr/>
          <a:lstStyle/>
          <a:p>
            <a:endParaRPr lang="es-CL"/>
          </a:p>
        </p:txBody>
      </p:sp>
      <p:sp>
        <p:nvSpPr>
          <p:cNvPr id="21" name="Shape 19"/>
          <p:cNvSpPr/>
          <p:nvPr/>
        </p:nvSpPr>
        <p:spPr>
          <a:xfrm>
            <a:off x="7863840" y="2286000"/>
            <a:ext cx="3337560" cy="228600"/>
          </a:xfrm>
          <a:prstGeom prst="rect">
            <a:avLst/>
          </a:prstGeom>
          <a:solidFill>
            <a:srgbClr val="1E2761"/>
          </a:solidFill>
          <a:ln/>
        </p:spPr>
        <p:txBody>
          <a:bodyPr/>
          <a:lstStyle/>
          <a:p>
            <a:endParaRPr lang="es-CL"/>
          </a:p>
        </p:txBody>
      </p:sp>
      <p:sp>
        <p:nvSpPr>
          <p:cNvPr id="22" name="Text 20"/>
          <p:cNvSpPr txBox="1"/>
          <p:nvPr/>
        </p:nvSpPr>
        <p:spPr>
          <a:xfrm>
            <a:off x="8092440" y="1920240"/>
            <a:ext cx="2880360" cy="594360"/>
          </a:xfrm>
          <a:prstGeom prst="rect">
            <a:avLst/>
          </a:prstGeom>
          <a:noFill/>
          <a:ln/>
        </p:spPr>
        <p:txBody>
          <a:bodyPr wrap="square" lIns="0" tIns="0" rIns="0" bIns="0" rtlCol="0" anchor="ctr"/>
          <a:lstStyle/>
          <a:p>
            <a:pPr marL="0" indent="0">
              <a:buNone/>
            </a:pPr>
            <a:r>
              <a:rPr lang="en-US" sz="1600" b="1" dirty="0">
                <a:solidFill>
                  <a:srgbClr val="D9A441"/>
                </a:solidFill>
                <a:latin typeface="Cambria" pitchFamily="34" charset="0"/>
                <a:ea typeface="Cambria" pitchFamily="34" charset="-122"/>
                <a:cs typeface="Cambria" pitchFamily="34" charset="-120"/>
              </a:rPr>
              <a:t>Fase 3</a:t>
            </a:r>
            <a:endParaRPr lang="en-US" sz="1600" dirty="0"/>
          </a:p>
        </p:txBody>
      </p:sp>
      <p:sp>
        <p:nvSpPr>
          <p:cNvPr id="23" name="Text 21"/>
          <p:cNvSpPr txBox="1"/>
          <p:nvPr/>
        </p:nvSpPr>
        <p:spPr>
          <a:xfrm>
            <a:off x="8092440" y="2697480"/>
            <a:ext cx="2880360" cy="822960"/>
          </a:xfrm>
          <a:prstGeom prst="rect">
            <a:avLst/>
          </a:prstGeom>
          <a:noFill/>
          <a:ln/>
        </p:spPr>
        <p:txBody>
          <a:bodyPr wrap="square" lIns="0" tIns="0" rIns="0" bIns="0" rtlCol="0" anchor="ctr"/>
          <a:lstStyle/>
          <a:p>
            <a:pPr marL="0" indent="0">
              <a:lnSpc>
                <a:spcPct val="110000"/>
              </a:lnSpc>
              <a:buNone/>
            </a:pPr>
            <a:r>
              <a:rPr lang="en-US" sz="1500" b="1" dirty="0">
                <a:solidFill>
                  <a:srgbClr val="1E2761"/>
                </a:solidFill>
                <a:latin typeface="Cambria" pitchFamily="34" charset="0"/>
                <a:ea typeface="Cambria" pitchFamily="34" charset="-122"/>
                <a:cs typeface="Cambria" pitchFamily="34" charset="-120"/>
              </a:rPr>
              <a:t>Pruebas, validación y cierre</a:t>
            </a:r>
            <a:endParaRPr lang="en-US" sz="1500" dirty="0"/>
          </a:p>
        </p:txBody>
      </p:sp>
      <p:sp>
        <p:nvSpPr>
          <p:cNvPr id="24" name="Text 22"/>
          <p:cNvSpPr txBox="1"/>
          <p:nvPr/>
        </p:nvSpPr>
        <p:spPr>
          <a:xfrm>
            <a:off x="8092440" y="3611880"/>
            <a:ext cx="2880360" cy="1463040"/>
          </a:xfrm>
          <a:prstGeom prst="rect">
            <a:avLst/>
          </a:prstGeom>
          <a:noFill/>
          <a:ln/>
        </p:spPr>
        <p:txBody>
          <a:bodyPr wrap="square" lIns="0" tIns="0" rIns="0" bIns="0" rtlCol="0" anchor="ctr"/>
          <a:lstStyle/>
          <a:p>
            <a:pPr marL="0" indent="0">
              <a:lnSpc>
                <a:spcPct val="125000"/>
              </a:lnSpc>
              <a:buNone/>
            </a:pPr>
            <a:r>
              <a:rPr lang="en-US" sz="1200" dirty="0">
                <a:solidFill>
                  <a:srgbClr val="5B6472"/>
                </a:solidFill>
                <a:latin typeface="Calibri" pitchFamily="34" charset="0"/>
                <a:ea typeface="Calibri" pitchFamily="34" charset="-122"/>
                <a:cs typeface="Calibri" pitchFamily="34" charset="-120"/>
              </a:rPr>
              <a:t>Ejecutar pruebas funcionales y de integración, corregir hallazgos y preparar la entrega final.</a:t>
            </a:r>
            <a:endParaRPr lang="en-US" sz="1200" dirty="0"/>
          </a:p>
        </p:txBody>
      </p:sp>
      <p:sp>
        <p:nvSpPr>
          <p:cNvPr id="25" name="Text 23"/>
          <p:cNvSpPr txBox="1"/>
          <p:nvPr/>
        </p:nvSpPr>
        <p:spPr>
          <a:xfrm>
            <a:off x="8092440" y="5394960"/>
            <a:ext cx="2880360" cy="411480"/>
          </a:xfrm>
          <a:prstGeom prst="rect">
            <a:avLst/>
          </a:prstGeom>
          <a:noFill/>
          <a:ln/>
        </p:spPr>
        <p:txBody>
          <a:bodyPr wrap="square" lIns="0" tIns="0" rIns="0" bIns="0" rtlCol="0" anchor="ctr"/>
          <a:lstStyle/>
          <a:p>
            <a:pPr marL="0" indent="0">
              <a:buNone/>
            </a:pPr>
            <a:r>
              <a:rPr lang="en-US" sz="1050" i="1" dirty="0">
                <a:solidFill>
                  <a:srgbClr val="D9A441"/>
                </a:solidFill>
                <a:latin typeface="Calibri" pitchFamily="34" charset="0"/>
                <a:ea typeface="Calibri" pitchFamily="34" charset="-122"/>
                <a:cs typeface="Calibri" pitchFamily="34" charset="-120"/>
              </a:rPr>
              <a:t>Responsables: Vicente Suazo y Andrea Santana</a:t>
            </a:r>
            <a:endParaRPr lang="en-US" sz="1050" dirty="0"/>
          </a:p>
        </p:txBody>
      </p:sp>
      <p:sp>
        <p:nvSpPr>
          <p:cNvPr id="26" name="Text 24"/>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CRONOGRAMA</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Carta Gantt (18 semanas)</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4" name="Text 52"/>
          <p:cNvSpPr txBox="1"/>
          <p:nvPr/>
        </p:nvSpPr>
        <p:spPr>
          <a:xfrm>
            <a:off x="640080" y="5989320"/>
            <a:ext cx="1051560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Las tres fases mantienen la temporalidad del periodo académico de la Asignatura de Portafolio de Título.</a:t>
            </a:r>
            <a:endParaRPr lang="en-US" sz="1150" dirty="0"/>
          </a:p>
        </p:txBody>
      </p:sp>
      <p:sp>
        <p:nvSpPr>
          <p:cNvPr id="55" name="Text 53"/>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11</a:t>
            </a:r>
            <a:endParaRPr lang="en-US" sz="1000" dirty="0"/>
          </a:p>
        </p:txBody>
      </p:sp>
      <p:pic>
        <p:nvPicPr>
          <p:cNvPr id="56" name="Picture 48">
            <a:extLst>
              <a:ext uri="{FF2B5EF4-FFF2-40B4-BE49-F238E27FC236}">
                <a16:creationId xmlns:a16="http://schemas.microsoft.com/office/drawing/2014/main" id="{5F14CB98-7E83-640A-1DCC-954593A8434A}"/>
              </a:ext>
            </a:extLst>
          </p:cNvPr>
          <p:cNvPicPr>
            <a:picLocks noChangeAspect="1"/>
          </p:cNvPicPr>
          <p:nvPr/>
        </p:nvPicPr>
        <p:blipFill>
          <a:blip r:embed="rId3"/>
          <a:stretch>
            <a:fillRect/>
          </a:stretch>
        </p:blipFill>
        <p:spPr>
          <a:xfrm>
            <a:off x="640080" y="1374586"/>
            <a:ext cx="10515600" cy="45232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C"/>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91440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EVALUACIÓN</a:t>
            </a:r>
            <a:endParaRPr lang="en-US" sz="1200" dirty="0"/>
          </a:p>
        </p:txBody>
      </p:sp>
      <p:sp>
        <p:nvSpPr>
          <p:cNvPr id="3" name="Text 1"/>
          <p:cNvSpPr txBox="1"/>
          <p:nvPr/>
        </p:nvSpPr>
        <p:spPr>
          <a:xfrm>
            <a:off x="640080" y="749808"/>
            <a:ext cx="10515600" cy="68580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Evidencias del proyecto</a:t>
            </a:r>
            <a:endParaRPr lang="en-US" sz="3200" dirty="0"/>
          </a:p>
        </p:txBody>
      </p:sp>
      <p:sp>
        <p:nvSpPr>
          <p:cNvPr id="4" name="Shape 2"/>
          <p:cNvSpPr/>
          <p:nvPr/>
        </p:nvSpPr>
        <p:spPr>
          <a:xfrm>
            <a:off x="640080" y="1481328"/>
            <a:ext cx="548640" cy="45720"/>
          </a:xfrm>
          <a:prstGeom prst="rect">
            <a:avLst/>
          </a:prstGeom>
          <a:solidFill>
            <a:srgbClr val="D9A441"/>
          </a:solidFill>
          <a:ln/>
        </p:spPr>
        <p:txBody>
          <a:bodyPr/>
          <a:lstStyle/>
          <a:p>
            <a:endParaRPr lang="es-CL"/>
          </a:p>
        </p:txBody>
      </p:sp>
      <p:sp>
        <p:nvSpPr>
          <p:cNvPr id="5" name="Shape 3"/>
          <p:cNvSpPr/>
          <p:nvPr/>
        </p:nvSpPr>
        <p:spPr>
          <a:xfrm>
            <a:off x="640080" y="1828800"/>
            <a:ext cx="1463040" cy="365760"/>
          </a:xfrm>
          <a:prstGeom prst="roundRect">
            <a:avLst>
              <a:gd name="adj" fmla="val 15000"/>
            </a:avLst>
          </a:prstGeom>
          <a:solidFill>
            <a:srgbClr val="1E2761"/>
          </a:solidFill>
          <a:ln/>
        </p:spPr>
        <p:txBody>
          <a:bodyPr/>
          <a:lstStyle/>
          <a:p>
            <a:endParaRPr lang="es-CL"/>
          </a:p>
        </p:txBody>
      </p:sp>
      <p:sp>
        <p:nvSpPr>
          <p:cNvPr id="6" name="Text 4"/>
          <p:cNvSpPr txBox="1"/>
          <p:nvPr/>
        </p:nvSpPr>
        <p:spPr>
          <a:xfrm>
            <a:off x="640080" y="1828800"/>
            <a:ext cx="146304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AVANCE</a:t>
            </a:r>
            <a:endParaRPr lang="en-US" sz="1200" dirty="0"/>
          </a:p>
        </p:txBody>
      </p:sp>
      <p:sp>
        <p:nvSpPr>
          <p:cNvPr id="7" name="Shape 5"/>
          <p:cNvSpPr/>
          <p:nvPr/>
        </p:nvSpPr>
        <p:spPr>
          <a:xfrm>
            <a:off x="640080" y="2423160"/>
            <a:ext cx="5074920" cy="1645920"/>
          </a:xfrm>
          <a:prstGeom prst="roundRect">
            <a:avLst>
              <a:gd name="adj" fmla="val 5556"/>
            </a:avLst>
          </a:prstGeom>
          <a:solidFill>
            <a:srgbClr val="FFFFFF"/>
          </a:solidFill>
          <a:ln w="12700">
            <a:solidFill>
              <a:srgbClr val="E2E7F2"/>
            </a:solidFill>
            <a:prstDash val="solid"/>
          </a:ln>
        </p:spPr>
        <p:txBody>
          <a:bodyPr/>
          <a:lstStyle/>
          <a:p>
            <a:endParaRPr lang="es-CL"/>
          </a:p>
        </p:txBody>
      </p:sp>
      <p:sp>
        <p:nvSpPr>
          <p:cNvPr id="8" name="Shape 6"/>
          <p:cNvSpPr/>
          <p:nvPr/>
        </p:nvSpPr>
        <p:spPr>
          <a:xfrm>
            <a:off x="640080" y="2423160"/>
            <a:ext cx="73152" cy="1645920"/>
          </a:xfrm>
          <a:prstGeom prst="rect">
            <a:avLst/>
          </a:prstGeom>
          <a:solidFill>
            <a:srgbClr val="1E2761"/>
          </a:solidFill>
          <a:ln/>
        </p:spPr>
        <p:txBody>
          <a:bodyPr/>
          <a:lstStyle/>
          <a:p>
            <a:endParaRPr lang="es-CL"/>
          </a:p>
        </p:txBody>
      </p:sp>
      <p:sp>
        <p:nvSpPr>
          <p:cNvPr id="9" name="Text 7"/>
          <p:cNvSpPr txBox="1"/>
          <p:nvPr/>
        </p:nvSpPr>
        <p:spPr>
          <a:xfrm>
            <a:off x="960120" y="2587752"/>
            <a:ext cx="4526280" cy="4572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Análisis y levantamiento de requerimientos</a:t>
            </a:r>
            <a:endParaRPr lang="en-US" sz="1400" dirty="0"/>
          </a:p>
        </p:txBody>
      </p:sp>
      <p:sp>
        <p:nvSpPr>
          <p:cNvPr id="10" name="Text 8"/>
          <p:cNvSpPr txBox="1"/>
          <p:nvPr/>
        </p:nvSpPr>
        <p:spPr>
          <a:xfrm>
            <a:off x="960120" y="3081528"/>
            <a:ext cx="4526280" cy="9144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Análisis de la plataforma ISO 27001, componentes reutilizables y requerimientos de ISO 42001.</a:t>
            </a:r>
            <a:endParaRPr lang="en-US" sz="1150" dirty="0"/>
          </a:p>
        </p:txBody>
      </p:sp>
      <p:sp>
        <p:nvSpPr>
          <p:cNvPr id="11" name="Shape 9"/>
          <p:cNvSpPr/>
          <p:nvPr/>
        </p:nvSpPr>
        <p:spPr>
          <a:xfrm>
            <a:off x="640080" y="4251960"/>
            <a:ext cx="5074920" cy="1645920"/>
          </a:xfrm>
          <a:prstGeom prst="roundRect">
            <a:avLst>
              <a:gd name="adj" fmla="val 5556"/>
            </a:avLst>
          </a:prstGeom>
          <a:solidFill>
            <a:srgbClr val="FFFFFF"/>
          </a:solidFill>
          <a:ln w="12700">
            <a:solidFill>
              <a:srgbClr val="E2E7F2"/>
            </a:solidFill>
            <a:prstDash val="solid"/>
          </a:ln>
        </p:spPr>
        <p:txBody>
          <a:bodyPr/>
          <a:lstStyle/>
          <a:p>
            <a:endParaRPr lang="es-CL"/>
          </a:p>
        </p:txBody>
      </p:sp>
      <p:sp>
        <p:nvSpPr>
          <p:cNvPr id="12" name="Shape 10"/>
          <p:cNvSpPr/>
          <p:nvPr/>
        </p:nvSpPr>
        <p:spPr>
          <a:xfrm>
            <a:off x="640080" y="4251960"/>
            <a:ext cx="73152" cy="1645920"/>
          </a:xfrm>
          <a:prstGeom prst="rect">
            <a:avLst/>
          </a:prstGeom>
          <a:solidFill>
            <a:srgbClr val="1E2761"/>
          </a:solidFill>
          <a:ln/>
        </p:spPr>
        <p:txBody>
          <a:bodyPr/>
          <a:lstStyle/>
          <a:p>
            <a:endParaRPr lang="es-CL"/>
          </a:p>
        </p:txBody>
      </p:sp>
      <p:sp>
        <p:nvSpPr>
          <p:cNvPr id="13" name="Text 11"/>
          <p:cNvSpPr txBox="1"/>
          <p:nvPr/>
        </p:nvSpPr>
        <p:spPr>
          <a:xfrm>
            <a:off x="960120" y="4416552"/>
            <a:ext cx="4526280" cy="4572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Diseño técnico e integración</a:t>
            </a:r>
            <a:endParaRPr lang="en-US" sz="1400" dirty="0"/>
          </a:p>
        </p:txBody>
      </p:sp>
      <p:sp>
        <p:nvSpPr>
          <p:cNvPr id="14" name="Text 12"/>
          <p:cNvSpPr txBox="1"/>
          <p:nvPr/>
        </p:nvSpPr>
        <p:spPr>
          <a:xfrm>
            <a:off x="960120" y="4910328"/>
            <a:ext cx="4526280" cy="9144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Diseño de la solución: componentes, flujos, APIs, datos y permisos.</a:t>
            </a:r>
            <a:endParaRPr lang="en-US" sz="1150" dirty="0"/>
          </a:p>
        </p:txBody>
      </p:sp>
      <p:sp>
        <p:nvSpPr>
          <p:cNvPr id="15" name="Shape 13"/>
          <p:cNvSpPr/>
          <p:nvPr/>
        </p:nvSpPr>
        <p:spPr>
          <a:xfrm>
            <a:off x="6080760" y="1828800"/>
            <a:ext cx="1463040" cy="365760"/>
          </a:xfrm>
          <a:prstGeom prst="roundRect">
            <a:avLst>
              <a:gd name="adj" fmla="val 15000"/>
            </a:avLst>
          </a:prstGeom>
          <a:solidFill>
            <a:srgbClr val="D9A441"/>
          </a:solidFill>
          <a:ln/>
        </p:spPr>
        <p:txBody>
          <a:bodyPr/>
          <a:lstStyle/>
          <a:p>
            <a:endParaRPr lang="es-CL"/>
          </a:p>
        </p:txBody>
      </p:sp>
      <p:sp>
        <p:nvSpPr>
          <p:cNvPr id="16" name="Text 14"/>
          <p:cNvSpPr txBox="1"/>
          <p:nvPr/>
        </p:nvSpPr>
        <p:spPr>
          <a:xfrm>
            <a:off x="6080760" y="1828800"/>
            <a:ext cx="1463040" cy="36576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FINAL</a:t>
            </a:r>
            <a:endParaRPr lang="en-US" sz="1200" dirty="0"/>
          </a:p>
        </p:txBody>
      </p:sp>
      <p:sp>
        <p:nvSpPr>
          <p:cNvPr id="17" name="Shape 15"/>
          <p:cNvSpPr/>
          <p:nvPr/>
        </p:nvSpPr>
        <p:spPr>
          <a:xfrm>
            <a:off x="6080760" y="2423160"/>
            <a:ext cx="5074920" cy="1645920"/>
          </a:xfrm>
          <a:prstGeom prst="roundRect">
            <a:avLst>
              <a:gd name="adj" fmla="val 5556"/>
            </a:avLst>
          </a:prstGeom>
          <a:solidFill>
            <a:srgbClr val="FFFFFF"/>
          </a:solidFill>
          <a:ln w="12700">
            <a:solidFill>
              <a:srgbClr val="E2E7F2"/>
            </a:solidFill>
            <a:prstDash val="solid"/>
          </a:ln>
        </p:spPr>
        <p:txBody>
          <a:bodyPr/>
          <a:lstStyle/>
          <a:p>
            <a:endParaRPr lang="es-CL"/>
          </a:p>
        </p:txBody>
      </p:sp>
      <p:sp>
        <p:nvSpPr>
          <p:cNvPr id="18" name="Shape 16"/>
          <p:cNvSpPr/>
          <p:nvPr/>
        </p:nvSpPr>
        <p:spPr>
          <a:xfrm>
            <a:off x="6080760" y="2423160"/>
            <a:ext cx="73152" cy="1645920"/>
          </a:xfrm>
          <a:prstGeom prst="rect">
            <a:avLst/>
          </a:prstGeom>
          <a:solidFill>
            <a:srgbClr val="D9A441"/>
          </a:solidFill>
          <a:ln/>
        </p:spPr>
        <p:txBody>
          <a:bodyPr/>
          <a:lstStyle/>
          <a:p>
            <a:endParaRPr lang="es-CL"/>
          </a:p>
        </p:txBody>
      </p:sp>
      <p:sp>
        <p:nvSpPr>
          <p:cNvPr id="19" name="Text 17"/>
          <p:cNvSpPr txBox="1"/>
          <p:nvPr/>
        </p:nvSpPr>
        <p:spPr>
          <a:xfrm>
            <a:off x="6400800" y="2587752"/>
            <a:ext cx="4526280" cy="4572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Funcionalidad ISO 42001 integrada</a:t>
            </a:r>
            <a:endParaRPr lang="en-US" sz="1400" dirty="0"/>
          </a:p>
        </p:txBody>
      </p:sp>
      <p:sp>
        <p:nvSpPr>
          <p:cNvPr id="20" name="Text 18"/>
          <p:cNvSpPr txBox="1"/>
          <p:nvPr/>
        </p:nvSpPr>
        <p:spPr>
          <a:xfrm>
            <a:off x="6400800" y="3081528"/>
            <a:ext cx="4526280" cy="9144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Demostración del software con la gestión de ISO 42001 dentro de la plataforma existente.</a:t>
            </a:r>
            <a:endParaRPr lang="en-US" sz="1150" dirty="0"/>
          </a:p>
        </p:txBody>
      </p:sp>
      <p:sp>
        <p:nvSpPr>
          <p:cNvPr id="21" name="Shape 19"/>
          <p:cNvSpPr/>
          <p:nvPr/>
        </p:nvSpPr>
        <p:spPr>
          <a:xfrm>
            <a:off x="6080760" y="4251960"/>
            <a:ext cx="5074920" cy="1645920"/>
          </a:xfrm>
          <a:prstGeom prst="roundRect">
            <a:avLst>
              <a:gd name="adj" fmla="val 5556"/>
            </a:avLst>
          </a:prstGeom>
          <a:solidFill>
            <a:srgbClr val="FFFFFF"/>
          </a:solidFill>
          <a:ln w="12700">
            <a:solidFill>
              <a:srgbClr val="E2E7F2"/>
            </a:solidFill>
            <a:prstDash val="solid"/>
          </a:ln>
        </p:spPr>
        <p:txBody>
          <a:bodyPr/>
          <a:lstStyle/>
          <a:p>
            <a:endParaRPr lang="es-CL"/>
          </a:p>
        </p:txBody>
      </p:sp>
      <p:sp>
        <p:nvSpPr>
          <p:cNvPr id="22" name="Shape 20"/>
          <p:cNvSpPr/>
          <p:nvPr/>
        </p:nvSpPr>
        <p:spPr>
          <a:xfrm>
            <a:off x="6080760" y="4251960"/>
            <a:ext cx="73152" cy="1645920"/>
          </a:xfrm>
          <a:prstGeom prst="rect">
            <a:avLst/>
          </a:prstGeom>
          <a:solidFill>
            <a:srgbClr val="D9A441"/>
          </a:solidFill>
          <a:ln/>
        </p:spPr>
        <p:txBody>
          <a:bodyPr/>
          <a:lstStyle/>
          <a:p>
            <a:endParaRPr lang="es-CL"/>
          </a:p>
        </p:txBody>
      </p:sp>
      <p:sp>
        <p:nvSpPr>
          <p:cNvPr id="23" name="Text 21"/>
          <p:cNvSpPr txBox="1"/>
          <p:nvPr/>
        </p:nvSpPr>
        <p:spPr>
          <a:xfrm>
            <a:off x="6400800" y="4416552"/>
            <a:ext cx="4526280" cy="45720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Pruebas y validación</a:t>
            </a:r>
            <a:endParaRPr lang="en-US" sz="1400" dirty="0"/>
          </a:p>
        </p:txBody>
      </p:sp>
      <p:sp>
        <p:nvSpPr>
          <p:cNvPr id="24" name="Text 22"/>
          <p:cNvSpPr txBox="1"/>
          <p:nvPr/>
        </p:nvSpPr>
        <p:spPr>
          <a:xfrm>
            <a:off x="6400800" y="4910328"/>
            <a:ext cx="4526280" cy="9144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Registro de pruebas sobre las funcionalidades implementadas y su integración.</a:t>
            </a:r>
            <a:endParaRPr lang="en-US" sz="1150" dirty="0"/>
          </a:p>
        </p:txBody>
      </p:sp>
      <p:sp>
        <p:nvSpPr>
          <p:cNvPr id="25" name="Text 23"/>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263275"/>
          </a:solidFill>
          <a:ln/>
        </p:spPr>
        <p:txBody>
          <a:bodyPr/>
          <a:lstStyle/>
          <a:p>
            <a:endParaRPr lang="es-CL"/>
          </a:p>
        </p:txBody>
      </p:sp>
      <p:sp>
        <p:nvSpPr>
          <p:cNvPr id="3" name="Text 1"/>
          <p:cNvSpPr txBox="1"/>
          <p:nvPr/>
        </p:nvSpPr>
        <p:spPr>
          <a:xfrm>
            <a:off x="822960" y="502920"/>
            <a:ext cx="7315200" cy="320040"/>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CIERRE</a:t>
            </a:r>
            <a:endParaRPr lang="en-US" sz="1200" dirty="0"/>
          </a:p>
        </p:txBody>
      </p:sp>
      <p:sp>
        <p:nvSpPr>
          <p:cNvPr id="4" name="Text 2"/>
          <p:cNvSpPr txBox="1"/>
          <p:nvPr/>
        </p:nvSpPr>
        <p:spPr>
          <a:xfrm>
            <a:off x="822960" y="804672"/>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Factibilidad y conclusión</a:t>
            </a:r>
            <a:endParaRPr lang="en-US" sz="3000" dirty="0"/>
          </a:p>
        </p:txBody>
      </p:sp>
      <p:sp>
        <p:nvSpPr>
          <p:cNvPr id="5" name="Shape 3"/>
          <p:cNvSpPr/>
          <p:nvPr/>
        </p:nvSpPr>
        <p:spPr>
          <a:xfrm>
            <a:off x="822960" y="1481328"/>
            <a:ext cx="548640" cy="45720"/>
          </a:xfrm>
          <a:prstGeom prst="rect">
            <a:avLst/>
          </a:prstGeom>
          <a:solidFill>
            <a:srgbClr val="D9A441"/>
          </a:solidFill>
          <a:ln/>
        </p:spPr>
        <p:txBody>
          <a:bodyPr/>
          <a:lstStyle/>
          <a:p>
            <a:endParaRPr lang="es-CL"/>
          </a:p>
        </p:txBody>
      </p:sp>
      <p:sp>
        <p:nvSpPr>
          <p:cNvPr id="6" name="Shape 4"/>
          <p:cNvSpPr/>
          <p:nvPr/>
        </p:nvSpPr>
        <p:spPr>
          <a:xfrm>
            <a:off x="822960" y="1984248"/>
            <a:ext cx="365760" cy="365760"/>
          </a:xfrm>
          <a:prstGeom prst="ellipse">
            <a:avLst/>
          </a:prstGeom>
          <a:solidFill>
            <a:srgbClr val="D9A441"/>
          </a:solidFill>
          <a:ln/>
        </p:spPr>
        <p:txBody>
          <a:bodyPr/>
          <a:lstStyle/>
          <a:p>
            <a:endParaRPr lang="es-CL"/>
          </a:p>
        </p:txBody>
      </p:sp>
      <p:sp>
        <p:nvSpPr>
          <p:cNvPr id="7" name="Text 5"/>
          <p:cNvSpPr txBox="1"/>
          <p:nvPr/>
        </p:nvSpPr>
        <p:spPr>
          <a:xfrm>
            <a:off x="822960" y="1984248"/>
            <a:ext cx="365760" cy="36576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371600" y="1920240"/>
            <a:ext cx="9692640" cy="804672"/>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No se parte desde cero: Alloxentric ya dispone del software y del repositorio de la solución ISO 27001.</a:t>
            </a:r>
            <a:endParaRPr lang="en-US" sz="1450" dirty="0"/>
          </a:p>
        </p:txBody>
      </p:sp>
      <p:sp>
        <p:nvSpPr>
          <p:cNvPr id="9" name="Shape 7"/>
          <p:cNvSpPr/>
          <p:nvPr/>
        </p:nvSpPr>
        <p:spPr>
          <a:xfrm>
            <a:off x="822960" y="2880360"/>
            <a:ext cx="365760" cy="365760"/>
          </a:xfrm>
          <a:prstGeom prst="ellipse">
            <a:avLst/>
          </a:prstGeom>
          <a:solidFill>
            <a:srgbClr val="D9A441"/>
          </a:solidFill>
          <a:ln/>
        </p:spPr>
        <p:txBody>
          <a:bodyPr/>
          <a:lstStyle/>
          <a:p>
            <a:endParaRPr lang="es-CL"/>
          </a:p>
        </p:txBody>
      </p:sp>
      <p:sp>
        <p:nvSpPr>
          <p:cNvPr id="10" name="Text 8"/>
          <p:cNvSpPr txBox="1"/>
          <p:nvPr/>
        </p:nvSpPr>
        <p:spPr>
          <a:xfrm>
            <a:off x="822960" y="2880360"/>
            <a:ext cx="365760" cy="36576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1371600" y="2816352"/>
            <a:ext cx="9692640" cy="804672"/>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Los estándares técnicos transversales ya están definidos, orientando el desarrollo de la ampliación.</a:t>
            </a:r>
            <a:endParaRPr lang="en-US" sz="1450" dirty="0"/>
          </a:p>
        </p:txBody>
      </p:sp>
      <p:sp>
        <p:nvSpPr>
          <p:cNvPr id="12" name="Shape 10"/>
          <p:cNvSpPr/>
          <p:nvPr/>
        </p:nvSpPr>
        <p:spPr>
          <a:xfrm>
            <a:off x="822960" y="3776472"/>
            <a:ext cx="365760" cy="365760"/>
          </a:xfrm>
          <a:prstGeom prst="ellipse">
            <a:avLst/>
          </a:prstGeom>
          <a:solidFill>
            <a:srgbClr val="D9A441"/>
          </a:solidFill>
          <a:ln/>
        </p:spPr>
        <p:txBody>
          <a:bodyPr/>
          <a:lstStyle/>
          <a:p>
            <a:endParaRPr lang="es-CL"/>
          </a:p>
        </p:txBody>
      </p:sp>
      <p:sp>
        <p:nvSpPr>
          <p:cNvPr id="13" name="Text 11"/>
          <p:cNvSpPr txBox="1"/>
          <p:nvPr/>
        </p:nvSpPr>
        <p:spPr>
          <a:xfrm>
            <a:off x="822960" y="3776472"/>
            <a:ext cx="365760" cy="36576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1371600" y="3712464"/>
            <a:ext cx="9692640" cy="804672"/>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El trabajo se organiza con Scrum y revisiones semanales, validando avances de forma progresiva.</a:t>
            </a:r>
            <a:endParaRPr lang="en-US" sz="1450" dirty="0"/>
          </a:p>
        </p:txBody>
      </p:sp>
      <p:sp>
        <p:nvSpPr>
          <p:cNvPr id="15" name="Shape 13"/>
          <p:cNvSpPr/>
          <p:nvPr/>
        </p:nvSpPr>
        <p:spPr>
          <a:xfrm>
            <a:off x="822960" y="4672584"/>
            <a:ext cx="365760" cy="365760"/>
          </a:xfrm>
          <a:prstGeom prst="ellipse">
            <a:avLst/>
          </a:prstGeom>
          <a:solidFill>
            <a:srgbClr val="D9A441"/>
          </a:solidFill>
          <a:ln/>
        </p:spPr>
        <p:txBody>
          <a:bodyPr/>
          <a:lstStyle/>
          <a:p>
            <a:endParaRPr lang="es-CL"/>
          </a:p>
        </p:txBody>
      </p:sp>
      <p:sp>
        <p:nvSpPr>
          <p:cNvPr id="16" name="Text 14"/>
          <p:cNvSpPr txBox="1"/>
          <p:nvPr/>
        </p:nvSpPr>
        <p:spPr>
          <a:xfrm>
            <a:off x="822960" y="4672584"/>
            <a:ext cx="365760" cy="365760"/>
          </a:xfrm>
          <a:prstGeom prst="rect">
            <a:avLst/>
          </a:prstGeom>
          <a:noFill/>
          <a:ln/>
        </p:spPr>
        <p:txBody>
          <a:bodyPr wrap="square" lIns="0" tIns="0" rIns="0" bIns="0"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371600" y="4608576"/>
            <a:ext cx="9692640" cy="804672"/>
          </a:xfrm>
          <a:prstGeom prst="rect">
            <a:avLst/>
          </a:prstGeom>
          <a:noFill/>
          <a:ln/>
        </p:spPr>
        <p:txBody>
          <a:bodyPr wrap="square" lIns="0" tIns="0" rIns="0" bIns="0"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El resultado amplía una plataforma real, aportando valor directo a la gestión de riesgos y cumplimiento.</a:t>
            </a:r>
            <a:endParaRPr lang="en-US" sz="1450" dirty="0"/>
          </a:p>
        </p:txBody>
      </p:sp>
      <p:sp>
        <p:nvSpPr>
          <p:cNvPr id="18" name="Text 16"/>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743200" y="-2743200"/>
            <a:ext cx="6400800" cy="6400800"/>
          </a:xfrm>
          <a:prstGeom prst="ellipse">
            <a:avLst/>
          </a:prstGeom>
          <a:solidFill>
            <a:srgbClr val="263275"/>
          </a:solidFill>
          <a:ln/>
        </p:spPr>
        <p:txBody>
          <a:bodyPr/>
          <a:lstStyle/>
          <a:p>
            <a:endParaRPr lang="es-CL"/>
          </a:p>
        </p:txBody>
      </p:sp>
      <p:sp>
        <p:nvSpPr>
          <p:cNvPr id="3" name="Shape 1"/>
          <p:cNvSpPr/>
          <p:nvPr/>
        </p:nvSpPr>
        <p:spPr>
          <a:xfrm>
            <a:off x="9601200" y="4114800"/>
            <a:ext cx="4572000" cy="4572000"/>
          </a:xfrm>
          <a:prstGeom prst="ellipse">
            <a:avLst/>
          </a:prstGeom>
          <a:solidFill>
            <a:srgbClr val="D9A441">
              <a:alpha val="15000"/>
            </a:srgbClr>
          </a:solidFill>
          <a:ln/>
        </p:spPr>
        <p:txBody>
          <a:bodyPr/>
          <a:lstStyle/>
          <a:p>
            <a:endParaRPr lang="es-CL"/>
          </a:p>
        </p:txBody>
      </p:sp>
      <p:sp>
        <p:nvSpPr>
          <p:cNvPr id="4" name="Text 2"/>
          <p:cNvSpPr txBox="1"/>
          <p:nvPr/>
        </p:nvSpPr>
        <p:spPr>
          <a:xfrm>
            <a:off x="0" y="2468880"/>
            <a:ext cx="12188952" cy="109728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Gracias</a:t>
            </a:r>
            <a:endParaRPr lang="en-US" sz="4800" dirty="0"/>
          </a:p>
        </p:txBody>
      </p:sp>
      <p:sp>
        <p:nvSpPr>
          <p:cNvPr id="5" name="Text 3"/>
          <p:cNvSpPr txBox="1"/>
          <p:nvPr/>
        </p:nvSpPr>
        <p:spPr>
          <a:xfrm>
            <a:off x="0" y="3520440"/>
            <a:ext cx="12188952" cy="457200"/>
          </a:xfrm>
          <a:prstGeom prst="rect">
            <a:avLst/>
          </a:prstGeom>
          <a:noFill/>
          <a:ln/>
        </p:spPr>
        <p:txBody>
          <a:bodyPr wrap="square" lIns="0" tIns="0" rIns="0" bIns="0" rtlCol="0" anchor="ctr"/>
          <a:lstStyle/>
          <a:p>
            <a:pPr marL="0" indent="0" algn="ctr">
              <a:buNone/>
            </a:pPr>
            <a:r>
              <a:rPr lang="en-US" sz="1500" dirty="0">
                <a:solidFill>
                  <a:srgbClr val="CADCFC"/>
                </a:solidFill>
                <a:latin typeface="Calibri" pitchFamily="34" charset="0"/>
                <a:ea typeface="Calibri" pitchFamily="34" charset="-122"/>
                <a:cs typeface="Calibri" pitchFamily="34" charset="-120"/>
              </a:rPr>
              <a:t>Dani ISO 42001 — Ampliación de la gestión ISO 27001 hacia ISO 42001</a:t>
            </a:r>
            <a:endParaRPr lang="en-US" sz="1500" dirty="0"/>
          </a:p>
        </p:txBody>
      </p:sp>
      <p:sp>
        <p:nvSpPr>
          <p:cNvPr id="6" name="Text 4"/>
          <p:cNvSpPr txBox="1"/>
          <p:nvPr/>
        </p:nvSpPr>
        <p:spPr>
          <a:xfrm>
            <a:off x="0" y="4114800"/>
            <a:ext cx="12188952" cy="365760"/>
          </a:xfrm>
          <a:prstGeom prst="rect">
            <a:avLst/>
          </a:prstGeom>
          <a:noFill/>
          <a:ln/>
        </p:spPr>
        <p:txBody>
          <a:bodyPr wrap="square" lIns="0" tIns="0" rIns="0" bIns="0" rtlCol="0" anchor="ctr"/>
          <a:lstStyle/>
          <a:p>
            <a:pPr marL="0" indent="0" algn="ctr">
              <a:buNone/>
            </a:pPr>
            <a:r>
              <a:rPr lang="en-US" sz="1300" b="1" dirty="0">
                <a:solidFill>
                  <a:srgbClr val="D9A441"/>
                </a:solidFill>
                <a:latin typeface="Calibri" pitchFamily="34" charset="0"/>
                <a:ea typeface="Calibri" pitchFamily="34" charset="-122"/>
                <a:cs typeface="Calibri" pitchFamily="34" charset="-120"/>
              </a:rPr>
              <a:t>Vicente Suazo  •  Andrea Santana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947</Words>
  <Application>Microsoft Office PowerPoint</Application>
  <PresentationFormat>Panorámica</PresentationFormat>
  <Paragraphs>182</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vicente suazo</cp:lastModifiedBy>
  <cp:revision>2</cp:revision>
  <dcterms:created xsi:type="dcterms:W3CDTF">2026-09-06T17:45:53Z</dcterms:created>
  <dcterms:modified xsi:type="dcterms:W3CDTF">2026-09-06T18:47:36Z</dcterms:modified>
</cp:coreProperties>
</file>