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4" r:id="rId26"/>
    <p:sldId id="271" r:id="rId23"/>
    <p:sldId id="275" r:id="rId27"/>
    <p:sldId id="262" r:id="rId14"/>
    <p:sldId id="276" r:id="rId28"/>
    <p:sldId id="259" r:id="rId11"/>
    <p:sldId id="260" r:id="rId12"/>
    <p:sldId id="263" r:id="rId15"/>
    <p:sldId id="264" r:id="rId16"/>
    <p:sldId id="278" r:id="rId30"/>
    <p:sldId id="267" r:id="rId19"/>
    <p:sldId id="268" r:id="rId20"/>
    <p:sldId id="277" r:id="rId29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Componentes</c:v>
                </c:pt>
              </c:strCache>
            </c:strRef>
          </c:tx>
          <c:spPr>
            <a:solidFill>
              <a:srgbClr val="1E2761"/>
            </a:solidFill>
          </c:spPr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2B3782"/>
              </a:solidFill>
            </c:spPr>
          </c:dPt>
          <c:dPt>
            <c:idx val="2"/>
            <c:spPr>
              <a:solidFill>
                <a:srgbClr val="D9A441"/>
              </a:solidFill>
            </c:spPr>
          </c:dPt>
          <c:cat>
            <c:strRef>
              <c:f>Sheet1!$A$2:$A$4</c:f>
              <c:strCache>
                <c:ptCount val="3"/>
                <c:pt idx="0">
                  <c:v>Políticas</c:v>
                </c:pt>
                <c:pt idx="1">
                  <c:v>Procedimientos</c:v>
                </c:pt>
                <c:pt idx="2">
                  <c:v>Controles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22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>
                  <a:solidFill>
                    <a:srgbClr val="1E276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7F2"/>
            </a:solidFill>
          </a:ln>
        </c:spPr>
        <c:txPr>
          <a:bodyPr/>
          <a:lstStyle/>
          <a:p>
            <a:pPr>
              <a:defRPr sz="1300">
                <a:solidFill>
                  <a:srgbClr val="5B64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Andrea. Saludo y contexto: esta es la presentación de la Fase 2 (desarrollo del proyecto). Mostraremos qué se implementó, cómo, con qué evidencias y qué queda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Andrea. Explicar el reparto: Vicente lidera lo técnico y yo la documentación, la revisión del contenido y las pruebas. Ambos conocemos el flujo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Andrea. Scrum con revisiones semanales. Mencionar un ejemplo real: el cambio de responsabilidades del 29 de septiembre se absorbió en el siguiente ciclo.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Andrea. Rúbrica de avance, indicador 1: proponer ajustes considerando dificultades, facilitadores y retroalimentación. Nombrar cada uno y justificar el ajuste.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Vicente. Explicar cada tabla y cómo se relacionan. Destacar la reutilización: frameworks y componentes ya existían en DANI27; se agregó la evaluación y se vincularon las respuestas.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Vicente (catálogo) y Andrea (revisión de las preguntas). Los scripts de carga son idempotentes: si el código ya existe, no se vuelve a crear.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Vicente. Ejemplo para explicar: si hay una respuesta Cumple, una Parcial y una No cumple, el cumplimiento es (1,0 + 0,5 + 0) / 3 = 50 %.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Andrea (pruebas). Ser honesta: son pruebas iniciales y en parte manuales. Rúbrica final indicador 2 menciona estándares de la industria: las pruebas automatizadas son el siguiente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Andrea. Rúbricas: entrega con estructura y nombres solicitados (15-20 %) y evidencia del aporte de cada integrante en el repositorio (15 %). Abrir el repositorio en GitHub y mostrar commits de ambos.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ambos, una frase cada uno. Rúbrica final indicadores 3 y 4: explicar con claridad cómo los intereses y las competencias se reflejan en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Andrea. Cerrar con las cuatro conclusiones y abrir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Preguntas de la comisión.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Andrea. Contrastar lo planificado en la Fase 1 con lo logrado hoy. Es la diapositiva clave para mostrar la evolución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Vicente. Mismo stack de la Fase 1, ahora con evidencia de uso: migraciones Alembic, API FastAPI, pantalla React y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Andrea. Los mismos cinco objetivos de la Fase 1, con su grado de logro. Parcial significa que la funcionalidad de evaluación está hecha, pero falta lo pendiente del 29-09 y los documentos maestro.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Vicente. Misma estructura de tres fases de la Fase 1, ahora con estado. Estamos al cierre de la Fase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Vicente. Recorrer los cinco pasos y mostrar el PDF real. Si hay demostración en vivo, seguir este orden. Solo hay 4 preguntas respondidas porque fue una prueba funcional.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63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5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ASIGNATURA DE PORTAFOLIO DE TÍTULO · FASE 2: DESARROLLO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  <a:latin typeface="Cambria"/>
              </a:rPr>
              <a:t>Dani ISO 42001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Módulo de evaluación de cumplimiento ISO/IEC 42001</a:t>
            </a:r>
          </a:p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sobre la plataforma DANI27 de Alloxentric.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92040"/>
            <a:ext cx="502920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Vicente Suazo  •  Andrea Santana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Ingeniería en Informática — Sede San Joaquín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1. EQUIPO Y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Integrantes y distribución del trabajo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07492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3172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mbria"/>
              </a:rP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E2761"/>
                </a:solidFill>
                <a:latin typeface="Cambria"/>
              </a:rPr>
              <a:t>Vicente Suazo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49039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Implementación técnica e integración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06240"/>
            <a:ext cx="4251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Calibri"/>
              </a:rPr>
              <a:t>Arquitectura, base de datos, API y pantalla de la evaluación ISO 42001; integración con la plataforma DANI27.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920240"/>
            <a:ext cx="507492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233172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mbria"/>
              </a:rPr>
              <a:t>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375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E2761"/>
                </a:solidFill>
                <a:latin typeface="Cambria"/>
              </a:rPr>
              <a:t>Andrea Santana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Documentación, contenido y pruebas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06240"/>
            <a:ext cx="4251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Calibri"/>
              </a:rPr>
              <a:t>Informes y registros de avance, revisión de políticas y preguntas, y pruebas funcionales de las evaluaciones.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Ambos participan en la revisión semanal con el mandante y se reparten la exposición para dominar el flujo completo del proyecto.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7.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Scrum aplicado al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430"/>
                </a:solidFill>
                <a:latin typeface="Calibri"/>
              </a:rPr>
              <a:t>El trabajo se organizó en ciclos cortos con revisiones semanales, lo que permitió validar con el mandante y absorber cambios de alcance sin rehacer el plan.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23774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743200"/>
            <a:ext cx="411480" cy="4114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E2761"/>
                </a:solidFill>
                <a:latin typeface="Cambria"/>
              </a:rPr>
              <a:t>Backlog priorizado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Requerimientos del mandante ordenados por valor y dependencia.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429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D9A441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560320"/>
            <a:ext cx="23774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2743200"/>
            <a:ext cx="411480" cy="4114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7432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2918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E2761"/>
                </a:solidFill>
                <a:latin typeface="Cambria"/>
              </a:rPr>
              <a:t>Sprints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7033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Ciclos de 2 a 3 semanas con tareas asignadas por integrante.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429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D9A441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560320"/>
            <a:ext cx="23774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743200"/>
            <a:ext cx="411480" cy="4114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7432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2918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E2761"/>
                </a:solidFill>
                <a:latin typeface="Cambria"/>
              </a:rPr>
              <a:t>Revisión semanal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7033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Demostración de avances y validación con Alloxentric.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429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D9A441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2560320"/>
            <a:ext cx="23774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2743200"/>
            <a:ext cx="411480" cy="4114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27432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2918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E2761"/>
                </a:solidFill>
                <a:latin typeface="Cambria"/>
              </a:rPr>
              <a:t>Ajuste e integración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7033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Retroalimentación incorporada y coordinación con Dani 9001 UTEM.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83480"/>
            <a:ext cx="1088136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0749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A441"/>
                </a:solidFill>
                <a:latin typeface="Calibri"/>
              </a:rPr>
              <a:t>POR QUÉ SCRUM FUE PERTINENTE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 amplía una plataforma ya operativa sin afectar ISO 27001, y parte del trabajo depende de otro equipo: un enfoque iterativo permite adaptarse a decisiones externas.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8. RETROALIMENTACIÓN Y AJUSTES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Dificultades, facilitadores y ajustes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4747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DIFICULTADES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474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587752"/>
            <a:ext cx="128016" cy="128016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5146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El alcance cambió respecto de la ficha inicial.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593592"/>
            <a:ext cx="128016" cy="128016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5204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Dependencia del equipo Dani 9001 UTEM para el modelo de datos.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599432"/>
            <a:ext cx="128016" cy="128016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5262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Nuevos requerimientos el 29-09 y reasignación de responsabilidades.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4747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FACILITADORES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286000"/>
            <a:ext cx="3474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0" y="2587752"/>
            <a:ext cx="128016" cy="128016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5146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Documento de alcance formal de Alloxentric.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3593592"/>
            <a:ext cx="128016" cy="128016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5204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Base tecnológica y estándares ya definidos.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4599432"/>
            <a:ext cx="128016" cy="128016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5262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Documentos de ejemplo entregados por el mandante.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9" y="1828800"/>
            <a:ext cx="3474720" cy="4572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8288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AJUSTES REALIZADOS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2286000"/>
            <a:ext cx="3474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19" y="2587752"/>
            <a:ext cx="128016" cy="128016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5146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De módulo aislado a evaluación integrada a DANI27.</a:t>
            </a:r>
          </a:p>
        </p:txBody>
      </p:sp>
      <p:sp>
        <p:nvSpPr>
          <p:cNvPr id="28" name="Oval 27"/>
          <p:cNvSpPr/>
          <p:nvPr/>
        </p:nvSpPr>
        <p:spPr>
          <a:xfrm>
            <a:off x="8275319" y="3593592"/>
            <a:ext cx="128016" cy="128016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35204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Cuestionario priorizado por política (20 políticas).</a:t>
            </a:r>
          </a:p>
        </p:txBody>
      </p:sp>
      <p:sp>
        <p:nvSpPr>
          <p:cNvPr id="30" name="Oval 29"/>
          <p:cNvSpPr/>
          <p:nvPr/>
        </p:nvSpPr>
        <p:spPr>
          <a:xfrm>
            <a:off x="8275319" y="4599432"/>
            <a:ext cx="128016" cy="128016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45262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Coordinación semanal con Dani 9001 UTEM.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715000"/>
            <a:ext cx="108813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Calibri"/>
              </a:rPr>
              <a:t>Los ajustes se documentaron en el informe de avance (2.4) y se justifican por la retroalimentación del mandante.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5. DISEÑO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Modelo de datos del módulo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651760" cy="10972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mbria"/>
              </a:rPr>
              <a:t>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ISO/IEC 42001 (código, nombre, versión 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2011680"/>
            <a:ext cx="2926080" cy="109728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21031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mbria"/>
              </a:rPr>
              <a:t>framework_components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450592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58 componentes: tipo (POLICY / PROCEDURE / CONTROL), código y orden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011680"/>
            <a:ext cx="3383280" cy="109728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103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mbria"/>
              </a:rPr>
              <a:t>component_questions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50592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100 preguntas por componente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2560320"/>
            <a:ext cx="731520" cy="0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2560320"/>
            <a:ext cx="731520" cy="0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0080" y="4023360"/>
            <a:ext cx="3566160" cy="13716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2430"/>
                </a:solidFill>
                <a:latin typeface="Cambria"/>
              </a:rPr>
              <a:t>iso42001_assessments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62272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430"/>
                </a:solidFill>
                <a:latin typeface="Calibri"/>
              </a:rPr>
              <a:t>Empresa, RUT, nombre, área, alcance, responsable, estado y fechas de inicio y término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4023360"/>
            <a:ext cx="3017520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1148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mbria"/>
              </a:rPr>
              <a:t>component_answers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46227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Respuesta, estado de cumplimiento, justificación y referencia de evidencia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06240" y="4709160"/>
            <a:ext cx="731520" cy="0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858000" y="3108960"/>
            <a:ext cx="1463040" cy="914400"/>
          </a:xfrm>
          <a:prstGeom prst="line">
            <a:avLst/>
          </a:prstGeom>
          <a:ln w="19050">
            <a:solidFill>
              <a:srgbClr val="5B64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412480" y="402336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A441"/>
                </a:solidFill>
                <a:latin typeface="Calibri"/>
              </a:rPr>
              <a:t>MIGRACIONES ALEMBIC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4348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F2430"/>
                </a:solidFill>
                <a:latin typeface="Calibri"/>
              </a:rPr>
              <a:t>6 migraciones versionan el esquema sin afectar las tablas de ISO 27001.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Calibri"/>
              </a:rPr>
              <a:t>El modelo reutiliza la estructura de frameworks y componentes de DANI27, y agrega la entidad de evaluación y las respuestas asociadas.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9.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Catálogo de componentes y cuestionario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28800"/>
          <a:ext cx="53949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60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B6472"/>
                </a:solidFill>
                <a:latin typeface="Calibri"/>
              </a:rPr>
              <a:t>58 componentes del framework ISO/IEC 42001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1206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82296" cy="128016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9202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761"/>
                </a:solidFill>
                <a:latin typeface="Cambria"/>
              </a:rPr>
              <a:t>20 políticas de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28600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Ej.: Gobierno de la IA, Gestión de Incidentes de IA, Monitorización Continua de la 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291840"/>
            <a:ext cx="51206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291840"/>
            <a:ext cx="82296" cy="128016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3832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761"/>
                </a:solidFill>
                <a:latin typeface="Cambria"/>
              </a:rPr>
              <a:t>100 preguntas de evaluación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749039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Cinco preguntas por política, revisadas y validadas por el equipo.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754880"/>
            <a:ext cx="51206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754880"/>
            <a:ext cx="82296" cy="128016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8463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761"/>
                </a:solidFill>
                <a:latin typeface="Cambria"/>
              </a:rPr>
              <a:t>Carga reproducible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21208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Scripts seed idempotentes: pueden ejecutarse varias veces sin duplicar componentes.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9.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Lógica de cálculo de cumplimiento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430"/>
                </a:solidFill>
                <a:latin typeface="Calibri"/>
              </a:rPr>
              <a:t>Cada respuesta tiene un estado; el servicio de cálculo lo transforma en un puntaje y obtiene indicadores comparables.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51206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82296" cy="6400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  <a:latin typeface="Cambria"/>
              </a:rPr>
              <a:t>Cumple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F2430"/>
                </a:solidFill>
                <a:latin typeface="Calibri"/>
              </a:rPr>
              <a:t>1,0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51206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82296" cy="6400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  <a:latin typeface="Cambria"/>
              </a:rPr>
              <a:t>Cumple parcialmente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461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F2430"/>
                </a:solidFill>
                <a:latin typeface="Calibri"/>
              </a:rPr>
              <a:t>0,5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51206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82296" cy="64008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  <a:latin typeface="Cambria"/>
              </a:rPr>
              <a:t>No cumple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233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F2430"/>
                </a:solidFill>
                <a:latin typeface="Calibri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00600"/>
            <a:ext cx="51206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00600"/>
            <a:ext cx="82296" cy="640080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006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  <a:latin typeface="Cambria"/>
              </a:rPr>
              <a:t>No aplica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00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F2430"/>
                </a:solidFill>
                <a:latin typeface="Calibri"/>
              </a:rPr>
              <a:t>Excluido del cálculo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468880"/>
            <a:ext cx="5394960" cy="1417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560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A441"/>
                </a:solidFill>
                <a:latin typeface="Calibri"/>
              </a:rPr>
              <a:t>FÓRMULA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803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Cumplimiento = Σ puntajes ÷ preguntas aplicables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383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Progreso = preguntas evaluadas ÷ 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1148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A441"/>
                </a:solidFill>
                <a:latin typeface="Calibri"/>
              </a:rPr>
              <a:t>NIVEL DE CUMPLIMIENTO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434840"/>
            <a:ext cx="128016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mbria"/>
              </a:rPr>
              <a:t>Muy alto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937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≥ 90 %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4434840"/>
            <a:ext cx="1280160" cy="91440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mbria"/>
              </a:rPr>
              <a:t>Alto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937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≥ 75 %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4434840"/>
            <a:ext cx="1280160" cy="9144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mbria"/>
              </a:rPr>
              <a:t>Medio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937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≥ 50 %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4434840"/>
            <a:ext cx="1280160" cy="914400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mbria"/>
              </a:rPr>
              <a:t>Bajo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4937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&lt; 50 %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Calibri"/>
              </a:rPr>
              <a:t>Los resultados son indicadores internos de evaluación; no constituyen una certificación oficial.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11. PRUEBAS Y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Cómo validamos que el cálculo es correcto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67665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82296" cy="10972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761"/>
                </a:solidFill>
                <a:latin typeface="Cambria"/>
              </a:rPr>
              <a:t>Prueba de cálculo (script)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test_iso42001_scoring.py: 5 preguntas, 3 respondidas → avance 60 % y cumplimiento 50 %.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67665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82296" cy="10972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761"/>
                </a:solidFill>
                <a:latin typeface="Cambria"/>
              </a:rPr>
              <a:t>Prueba funcional de punta a punta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84448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Evaluación "Capstone Demo": creación, respuestas, resultados y descarga del PDF.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89120"/>
            <a:ext cx="67665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389120"/>
            <a:ext cx="82296" cy="10972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80559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761"/>
                </a:solidFill>
                <a:latin typeface="Cambria"/>
              </a:rPr>
              <a:t>Verificación manual del 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64608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El PDF coincide con el cálculo esperado: 4/100 = 4 % y (1,0 + 0,5 + 0)/3 = 50 %.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828800"/>
            <a:ext cx="3749039" cy="3657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011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A441"/>
                </a:solidFill>
                <a:latin typeface="Calibri"/>
              </a:rPr>
              <a:t>PRÓXIMAS PRUEBAS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37744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Más combinaciones de respuestas (casos límite, todo "no aplica").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Casos documentados y repetibles.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Pruebas de integración con el modelo de Dani 9001 UTEM.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Calibri"/>
              </a:rPr>
              <a:t>Las pruebas actuales son pocas y manuales; ampliarlas es una prioridad para la Fase 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12. EVIDENCIAS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Evidencias y trabajo en el repositorio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A441"/>
                </a:solidFill>
                <a:latin typeface="Calibri"/>
              </a:rPr>
              <a:t>ESTRUCTURA EN GITHUB (Fase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943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761"/>
                </a:solidFill>
                <a:latin typeface="Consolas"/>
              </a:rPr>
              <a:t>Fase 2/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761"/>
                </a:solidFill>
                <a:latin typeface="Consolas"/>
              </a:rPr>
              <a:t>  Evidencias Individuales/   diarios y autoevaluaciones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761"/>
                </a:solidFill>
                <a:latin typeface="Consolas"/>
              </a:rPr>
              <a:t>  Evidencias Grupales/   informes 2.4, 2.6 y planillas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761"/>
                </a:solidFill>
                <a:latin typeface="Consolas"/>
              </a:rPr>
              <a:t>  Evidencias Proyecto/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761"/>
                </a:solidFill>
                <a:latin typeface="Consolas"/>
              </a:rPr>
              <a:t>     Presentación Proyecto.pptx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761"/>
                </a:solidFill>
                <a:latin typeface="Consolas"/>
              </a:rPr>
              <a:t>     Evidencias de documentación/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761"/>
                </a:solidFill>
                <a:latin typeface="Consolas"/>
              </a:rPr>
              <a:t>     Evidencias de sistema/   aplicación y base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37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A441"/>
                </a:solidFill>
                <a:latin typeface="Calibri"/>
              </a:rPr>
              <a:t>APORTE DE CADA INTEGRANTE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2103120"/>
            <a:ext cx="45720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2103120"/>
            <a:ext cx="82296" cy="150876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194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761"/>
                </a:solidFill>
                <a:latin typeface="Cambria"/>
              </a:rPr>
              <a:t>Vicente Suazo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56032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Código del módulo, migraciones, scripts de carga, API y pantalla; commits en el repositorio.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3886200"/>
            <a:ext cx="45720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3886200"/>
            <a:ext cx="82296" cy="150876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97763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761"/>
                </a:solidFill>
                <a:latin typeface="Cambria"/>
              </a:rPr>
              <a:t>Andrea Santana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434340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Informes 2.4 y 2.6, diarios, registros de requerimientos, revisión de preguntas y pruebas.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Calibri"/>
              </a:rPr>
              <a:t>Todos los documentos siguen los nombres solicitados por la asignatura y se versionan en el repositorio Proyecto-Dani-ISO-42001.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63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3. PERTINENCIA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mbria"/>
              </a:rPr>
              <a:t>Perfil de egreso e intereses profesionales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El proyecto integra competencias de la carrera sobre una plataforma real y se conecta con los intereses de cada integrante.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5349240" cy="100584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82296" cy="10058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mbria"/>
              </a:rPr>
              <a:t>Gestionar proyectos informáticos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Scrum, backlog y coordinación con el mandante.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468880"/>
            <a:ext cx="5349240" cy="100584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468880"/>
            <a:ext cx="82296" cy="10058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mbria"/>
              </a:rPr>
              <a:t>Construir modelos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71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Tablas de frameworks, evaluaciones y respuestas con migraciones.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5349240" cy="100584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11880"/>
            <a:ext cx="82296" cy="10058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mbria"/>
              </a:rPr>
              <a:t>Desarrollar una solución de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API FastAPI, pantalla React y generación del PDF.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611880"/>
            <a:ext cx="5349240" cy="100584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611880"/>
            <a:ext cx="82296" cy="10058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703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mbria"/>
              </a:rPr>
              <a:t>Realizar pruebas de certificación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14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Prueba del cálculo y evaluación de punta a punta.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A441"/>
                </a:solidFill>
                <a:latin typeface="Calibri"/>
              </a:rPr>
              <a:t>INTERESES PROFESIONALES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Andrea: análisis de requerimientos y aseguramiento de la calidad (QA).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212080"/>
            <a:ext cx="5349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Vicente: arquitectura backend, integración de sistemas y cumplimiento normativo.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63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mbria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029968"/>
            <a:ext cx="365760" cy="36576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202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Se implementó un módulo funcional de evaluación ISO/IEC 42001 integrado a DANI27: 58 componentes, 100 preguntas, cálculo y PDF.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35808"/>
            <a:ext cx="365760" cy="36576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358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2608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El cálculo de cumplimiento fue validado con una prueba automática y una evaluación de punta a punta.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41648"/>
            <a:ext cx="365760" cy="36576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41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93192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Scrum permitió absorber el cambio de alcance del 29-09 y mantener la coordinación con Dani 9001 UTEM.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047488"/>
            <a:ext cx="365760" cy="36576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474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3776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Queda trabajo pendiente identificado y planificado para la Fase 3, con responsables y dependencias claras.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63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206240"/>
            <a:ext cx="3291840" cy="3291840"/>
          </a:xfrm>
          <a:prstGeom prst="ellipse">
            <a:avLst/>
          </a:prstGeom>
          <a:solidFill>
            <a:srgbClr val="2A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mbria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CADCFC"/>
                </a:solidFill>
                <a:latin typeface="Calibri"/>
              </a:rPr>
              <a:t>Dani ISO 42001 — Módulo de evaluación de cumplimiento ISO/IEC 42001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88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A441"/>
                </a:solidFill>
                <a:latin typeface="Calibri"/>
              </a:rPr>
              <a:t>Vicente Suazo  •  Andrea Santana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2. DE LA PLANIFICACIÓN AL AVANCE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Fase 1 vs Fase 2: qué se mejoró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4937760" cy="41148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FASE 1 · PLANIFICADO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783080"/>
            <a:ext cx="4937760" cy="4114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7830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FASE 2 · LOGRADO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4937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Ampliar DANI27 para gestionar ISO 42001.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377440"/>
            <a:ext cx="1005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D9A441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377440"/>
            <a:ext cx="49377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377440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Módulo de evaluación ISO 42001 integrado, y alcance formalizado con Alloxentric.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4937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08960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Analizar componentes reutilizables.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108960"/>
            <a:ext cx="1005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D9A441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108960"/>
            <a:ext cx="49377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3108960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Modelo de datos propio: evaluaciones y respuestas, con 6 migraciones.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4937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40480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Levantar los requerimientos de ISO 42001.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840480"/>
            <a:ext cx="1005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D9A441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840480"/>
            <a:ext cx="49377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840480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58 componentes y 100 preguntas cargados en la plataforma.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72000"/>
            <a:ext cx="4937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72000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Funcionalidad por demostrar.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572000"/>
            <a:ext cx="1005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D9A441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572000"/>
            <a:ext cx="49377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572000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Cálculo de cumplimiento e informe PDF automáticos, ya funcionando.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03520"/>
            <a:ext cx="4937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303520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Scrum con revisiones semanales.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5303520"/>
            <a:ext cx="1005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D9A441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5303520"/>
            <a:ext cx="49377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5303520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Scrum aplicado: se absorbió el cambio de alcance del 29-09.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4. STACK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Tecnologías y herramientas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430"/>
                </a:solidFill>
                <a:latin typeface="Calibri"/>
              </a:rPr>
              <a:t>El módulo se construyó sobre el stack ya desplegado de DANI27, sin introducir tecnologías ajenas a los estándares de Alloxentric.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82296" cy="8686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51460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E2761"/>
                </a:solidFill>
                <a:latin typeface="Cambria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React + Vite · pantalla de frameworks y evaluaciones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42316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2423160"/>
            <a:ext cx="82296" cy="8686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51460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E2761"/>
                </a:solidFill>
                <a:latin typeface="Cambria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FastAPI (Python) · API REST de evaluaciones y resultados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20439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20439"/>
            <a:ext cx="82296" cy="8686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3611879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E2761"/>
                </a:solidFill>
                <a:latin typeface="Cambria"/>
              </a:rPr>
              <a:t>Base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3977639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PostgreSQL con pgvector · migraciones con Alembic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520439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3520439"/>
            <a:ext cx="82296" cy="8686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611879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E2761"/>
                </a:solidFill>
                <a:latin typeface="Cambria"/>
              </a:rPr>
              <a:t>Cache / broker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77639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Redis · Celery para tareas asíncronas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1772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617720"/>
            <a:ext cx="82296" cy="8686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4709159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E2761"/>
                </a:solidFill>
                <a:latin typeface="Cambria"/>
              </a:rPr>
              <a:t>Contenerización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19" y="5074920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Docker y Docker Compose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61772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4617720"/>
            <a:ext cx="82296" cy="8686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709159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E2761"/>
                </a:solidFill>
                <a:latin typeface="Cambria"/>
              </a:rPr>
              <a:t>Informes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74920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Generación del informe PDF desde el 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6.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Objetivos y su grado de logro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430"/>
                </a:solidFill>
                <a:latin typeface="Calibri"/>
              </a:rPr>
              <a:t>Objetivo general: implementar en DANI27 las funcionalidades para incorporar la gestión de ISO 42001, reutilizando la solución de ISO 27001.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82296" cy="6583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52374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237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77440"/>
            <a:ext cx="7680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Analizar la estructura de ISO 27001 e identificar componentes reutilizables.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2532888"/>
            <a:ext cx="1554480" cy="347472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2532888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Logrado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82296" cy="6583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30098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0098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54680"/>
            <a:ext cx="7680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Definir los requerimientos para incorporar ISO 42001.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310128"/>
            <a:ext cx="1554480" cy="347472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3310128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Logrado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31920"/>
            <a:ext cx="82296" cy="65836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07822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782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931920"/>
            <a:ext cx="7680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Diseñar y desarrollar las funcionalidades manteniendo los estándares de Alloxentric.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4087368"/>
            <a:ext cx="1554480" cy="347472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4087368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Parcial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709160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709160"/>
            <a:ext cx="82296" cy="65836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485546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554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709160"/>
            <a:ext cx="7680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Integrar las funcionalidades sin afectar la operación de ISO 27001.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4864608"/>
            <a:ext cx="1554480" cy="347472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4864608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Parcial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486400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486400"/>
            <a:ext cx="82296" cy="65836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63270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6327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486400"/>
            <a:ext cx="7680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430"/>
                </a:solidFill>
                <a:latin typeface="Calibri"/>
              </a:rPr>
              <a:t>Realizar pruebas y validaciones de las funcionalidades y su integración.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5641848"/>
            <a:ext cx="1554480" cy="347472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5641848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 curso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B6472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13. PLAN DE TRABAJO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761"/>
                </a:solidFill>
                <a:latin typeface="Cambria"/>
              </a:rPr>
              <a:t>Plan de trabajo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4747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74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Fase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938528"/>
            <a:ext cx="1280160" cy="292608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93852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Completada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761"/>
                </a:solidFill>
                <a:latin typeface="Cambria"/>
              </a:rPr>
              <a:t>Análisis de plataforma y requerimientos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Análisis de ISO 27001 y componentes reutilizables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Requerimientos para ISO 42001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Alcance y plan de trabajo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A441"/>
                </a:solidFill>
                <a:latin typeface="Calibri"/>
              </a:rPr>
              <a:t>Responsables: Vicente Suazo y Andrea Santana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4747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474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8288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Fase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938528"/>
            <a:ext cx="1280160" cy="292608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93852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 ejecución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603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761"/>
                </a:solidFill>
                <a:latin typeface="Cambria"/>
              </a:rPr>
              <a:t>Diseño, desarrollo e integración ISO 42001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9184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Modelo de datos y 6 migraciones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Catálogo (58) y cuestionario (100)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Cálculo, API, pantalla e informe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892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A441"/>
                </a:solidFill>
                <a:latin typeface="Calibri"/>
              </a:rPr>
              <a:t>Responsables: Vicente Suazo y Andrea Santana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1828800"/>
            <a:ext cx="34747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1828800"/>
            <a:ext cx="3474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8288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Fase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938528"/>
            <a:ext cx="1280160" cy="292608"/>
          </a:xfrm>
          <a:prstGeom prst="round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193852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Por iniciar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603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761"/>
                </a:solidFill>
                <a:latin typeface="Cambria"/>
              </a:rPr>
              <a:t>Pruebas, validación y cierre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9184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Documentos maestro y agente LLM para ISO 42001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Requerimientos del 29-09: contenido sin cortes y anexos A y B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Contrato de entrega con Dani 9001 UTEM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Pruebas ampliadas y entrega 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92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A441"/>
                </a:solidFill>
                <a:latin typeface="Calibri"/>
              </a:rPr>
              <a:t>Responsables: Vicente Suazo y Andrea Santana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63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10. FLUJO Y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mbria"/>
              </a:rPr>
              <a:t>De la evaluación al informe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234440"/>
            <a:ext cx="3459018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783080"/>
            <a:ext cx="1463040" cy="160020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9A441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mbria"/>
              </a:rPr>
              <a:t>Crear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Empresa, RUT, área y alcance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783080"/>
            <a:ext cx="1463040" cy="160020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84708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9A441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37744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mbria"/>
              </a:rPr>
              <a:t>Responder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6974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Estado, justificación y evidencia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783080"/>
            <a:ext cx="1463040" cy="160020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84708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9A441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37744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mbria"/>
              </a:rPr>
              <a:t>Calcular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26974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Progreso, cumplimiento y nivel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80" y="1783080"/>
            <a:ext cx="1463040" cy="160020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84708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9A441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37744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mbria"/>
              </a:rPr>
              <a:t>Resultados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6974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Resumen por política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1783080"/>
            <a:ext cx="1463040" cy="160020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184708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9A441"/>
                </a:solidFill>
                <a:latin typeface="Cambr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37744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mbria"/>
              </a:rPr>
              <a:t>Informe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6974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Descarga automática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A441"/>
                </a:solidFill>
                <a:latin typeface="Calibri"/>
              </a:rPr>
              <a:t>EVALUACIÓN DE PRUEBA "CAPSTONE DEMO" · 23/10/2026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931920"/>
            <a:ext cx="1783080" cy="114300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4005072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D9A441"/>
                </a:solidFill>
                <a:latin typeface="Cambria"/>
              </a:rPr>
              <a:t>4,0 %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61772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Progreso (4 de 100)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931920"/>
            <a:ext cx="1783080" cy="114300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4005072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D9A441"/>
                </a:solidFill>
                <a:latin typeface="Cambria"/>
              </a:rPr>
              <a:t>50,0 %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61772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Cumplimiento evaluado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3931920"/>
            <a:ext cx="1783080" cy="114300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005072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D9A441"/>
                </a:solidFill>
                <a:latin typeface="Cambria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61772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Preguntas aplicables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931920"/>
            <a:ext cx="1783080" cy="1143000"/>
          </a:xfrm>
          <a:prstGeom prst="rect">
            <a:avLst/>
          </a:prstGeom>
          <a:solidFill>
            <a:srgbClr val="2B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005072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D9A441"/>
                </a:solidFill>
                <a:latin typeface="Cambria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61772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Incumplimiento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4924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CADCFC"/>
                </a:solidFill>
                <a:latin typeface="Calibri"/>
              </a:rPr>
              <a:t>Coherente con la regla de cálculo: (1,0 + 0,5 + 0) / 3 = 50 %. Los resultados son indicadores internos, no una certificación oficial.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